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handoutMasterIdLst>
    <p:handoutMasterId r:id="rId19"/>
  </p:handoutMasterIdLst>
  <p:sldIdLst>
    <p:sldId id="594" r:id="rId2"/>
    <p:sldId id="767" r:id="rId3"/>
    <p:sldId id="749" r:id="rId4"/>
    <p:sldId id="768" r:id="rId5"/>
    <p:sldId id="801" r:id="rId6"/>
    <p:sldId id="769" r:id="rId7"/>
    <p:sldId id="805" r:id="rId8"/>
    <p:sldId id="789" r:id="rId9"/>
    <p:sldId id="806" r:id="rId10"/>
    <p:sldId id="808" r:id="rId11"/>
    <p:sldId id="778" r:id="rId12"/>
    <p:sldId id="807" r:id="rId13"/>
    <p:sldId id="792" r:id="rId14"/>
    <p:sldId id="790" r:id="rId15"/>
    <p:sldId id="802" r:id="rId16"/>
    <p:sldId id="788" r:id="rId17"/>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ll, Barbara" initials="BB" lastIdx="11" clrIdx="0">
    <p:extLst>
      <p:ext uri="{19B8F6BF-5375-455C-9EA6-DF929625EA0E}">
        <p15:presenceInfo xmlns:p15="http://schemas.microsoft.com/office/powerpoint/2012/main" userId="S-1-5-21-1616849034-2007720754-1845911597-2039" providerId="AD"/>
      </p:ext>
    </p:extLst>
  </p:cmAuthor>
  <p:cmAuthor id="2" name="Rosenbluth, Barri" initials="RB" lastIdx="7" clrIdx="1">
    <p:extLst>
      <p:ext uri="{19B8F6BF-5375-455C-9EA6-DF929625EA0E}">
        <p15:presenceInfo xmlns:p15="http://schemas.microsoft.com/office/powerpoint/2012/main" userId="S-1-5-21-1616849034-2007720754-1845911597-1921" providerId="AD"/>
      </p:ext>
    </p:extLst>
  </p:cmAuthor>
  <p:cmAuthor id="3" name="Marrone, Magdalen" initials="MM" lastIdx="1" clrIdx="2">
    <p:extLst>
      <p:ext uri="{19B8F6BF-5375-455C-9EA6-DF929625EA0E}">
        <p15:presenceInfo xmlns:p15="http://schemas.microsoft.com/office/powerpoint/2012/main" userId="S-1-5-21-1616849034-2007720754-1845911597-1104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2" autoAdjust="0"/>
    <p:restoredTop sz="70130" autoAdjust="0"/>
  </p:normalViewPr>
  <p:slideViewPr>
    <p:cSldViewPr snapToGrid="0">
      <p:cViewPr varScale="1">
        <p:scale>
          <a:sx n="89" d="100"/>
          <a:sy n="89" d="100"/>
        </p:scale>
        <p:origin x="90" y="2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3964"/>
    </p:cViewPr>
  </p:sorterViewPr>
  <p:notesViewPr>
    <p:cSldViewPr snapToGrid="0">
      <p:cViewPr varScale="1">
        <p:scale>
          <a:sx n="52" d="100"/>
          <a:sy n="52" d="100"/>
        </p:scale>
        <p:origin x="2656" y="6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64" tIns="46582" rIns="93164" bIns="46582" rtlCol="0"/>
          <a:lstStyle>
            <a:lvl1pPr algn="l">
              <a:defRPr sz="1200"/>
            </a:lvl1pPr>
          </a:lstStyle>
          <a:p>
            <a:endParaRPr lang="en-US"/>
          </a:p>
        </p:txBody>
      </p:sp>
      <p:sp>
        <p:nvSpPr>
          <p:cNvPr id="3" name="Date Placeholder 2"/>
          <p:cNvSpPr>
            <a:spLocks noGrp="1"/>
          </p:cNvSpPr>
          <p:nvPr>
            <p:ph type="dt" sz="quarter" idx="1"/>
          </p:nvPr>
        </p:nvSpPr>
        <p:spPr>
          <a:xfrm>
            <a:off x="3970938" y="1"/>
            <a:ext cx="3037840" cy="466434"/>
          </a:xfrm>
          <a:prstGeom prst="rect">
            <a:avLst/>
          </a:prstGeom>
        </p:spPr>
        <p:txBody>
          <a:bodyPr vert="horz" lIns="93164" tIns="46582" rIns="93164" bIns="46582" rtlCol="0"/>
          <a:lstStyle>
            <a:lvl1pPr algn="r">
              <a:defRPr sz="1200"/>
            </a:lvl1pPr>
          </a:lstStyle>
          <a:p>
            <a:fld id="{8D1E54A8-35D7-4DB5-A9E1-7631E5C2B24A}" type="datetimeFigureOut">
              <a:rPr lang="en-US" smtClean="0"/>
              <a:t>4/7/2020</a:t>
            </a:fld>
            <a:endParaRPr lang="en-US"/>
          </a:p>
        </p:txBody>
      </p:sp>
      <p:sp>
        <p:nvSpPr>
          <p:cNvPr id="4" name="Footer Placeholder 3"/>
          <p:cNvSpPr>
            <a:spLocks noGrp="1"/>
          </p:cNvSpPr>
          <p:nvPr>
            <p:ph type="ftr" sz="quarter" idx="2"/>
          </p:nvPr>
        </p:nvSpPr>
        <p:spPr>
          <a:xfrm>
            <a:off x="0" y="8829968"/>
            <a:ext cx="3037840" cy="466433"/>
          </a:xfrm>
          <a:prstGeom prst="rect">
            <a:avLst/>
          </a:prstGeom>
        </p:spPr>
        <p:txBody>
          <a:bodyPr vert="horz" lIns="93164" tIns="46582" rIns="93164" bIns="46582"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8"/>
            <a:ext cx="3037840" cy="466433"/>
          </a:xfrm>
          <a:prstGeom prst="rect">
            <a:avLst/>
          </a:prstGeom>
        </p:spPr>
        <p:txBody>
          <a:bodyPr vert="horz" lIns="93164" tIns="46582" rIns="93164" bIns="46582" rtlCol="0" anchor="b"/>
          <a:lstStyle>
            <a:lvl1pPr algn="r">
              <a:defRPr sz="1200"/>
            </a:lvl1pPr>
          </a:lstStyle>
          <a:p>
            <a:fld id="{FB6B3C63-6EAB-4D87-A4CF-072A6AF2FA3D}" type="slidenum">
              <a:rPr lang="en-US" smtClean="0"/>
              <a:t>‹#›</a:t>
            </a:fld>
            <a:endParaRPr lang="en-US"/>
          </a:p>
        </p:txBody>
      </p:sp>
    </p:spTree>
    <p:extLst>
      <p:ext uri="{BB962C8B-B14F-4D97-AF65-F5344CB8AC3E}">
        <p14:creationId xmlns:p14="http://schemas.microsoft.com/office/powerpoint/2010/main" val="36734330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64" tIns="46582" rIns="93164" bIns="46582"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64" tIns="46582" rIns="93164" bIns="46582" rtlCol="0"/>
          <a:lstStyle>
            <a:lvl1pPr algn="r">
              <a:defRPr sz="1200"/>
            </a:lvl1pPr>
          </a:lstStyle>
          <a:p>
            <a:fld id="{78D72281-6E8F-41C9-ADC8-D94C4E74506C}" type="datetimeFigureOut">
              <a:rPr lang="en-US" smtClean="0"/>
              <a:t>4/7/2020</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4" tIns="46582" rIns="93164" bIns="46582"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4" tIns="46582" rIns="93164" bIns="46582"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8"/>
            <a:ext cx="3037840" cy="466433"/>
          </a:xfrm>
          <a:prstGeom prst="rect">
            <a:avLst/>
          </a:prstGeom>
        </p:spPr>
        <p:txBody>
          <a:bodyPr vert="horz" lIns="93164" tIns="46582" rIns="93164" bIns="46582"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8"/>
            <a:ext cx="3037840" cy="466433"/>
          </a:xfrm>
          <a:prstGeom prst="rect">
            <a:avLst/>
          </a:prstGeom>
        </p:spPr>
        <p:txBody>
          <a:bodyPr vert="horz" lIns="93164" tIns="46582" rIns="93164" bIns="46582" rtlCol="0" anchor="b"/>
          <a:lstStyle>
            <a:lvl1pPr algn="r">
              <a:defRPr sz="1200"/>
            </a:lvl1pPr>
          </a:lstStyle>
          <a:p>
            <a:fld id="{4424125C-4E5D-4456-B06B-95D642933F76}" type="slidenum">
              <a:rPr lang="en-US" smtClean="0"/>
              <a:t>‹#›</a:t>
            </a:fld>
            <a:endParaRPr lang="en-US"/>
          </a:p>
        </p:txBody>
      </p:sp>
    </p:spTree>
    <p:extLst>
      <p:ext uri="{BB962C8B-B14F-4D97-AF65-F5344CB8AC3E}">
        <p14:creationId xmlns:p14="http://schemas.microsoft.com/office/powerpoint/2010/main" val="2447088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424125C-4E5D-4456-B06B-95D642933F76}" type="slidenum">
              <a:rPr lang="en-US" smtClean="0"/>
              <a:t>1</a:t>
            </a:fld>
            <a:endParaRPr lang="en-US"/>
          </a:p>
        </p:txBody>
      </p:sp>
    </p:spTree>
    <p:extLst>
      <p:ext uri="{BB962C8B-B14F-4D97-AF65-F5344CB8AC3E}">
        <p14:creationId xmlns:p14="http://schemas.microsoft.com/office/powerpoint/2010/main" val="3697402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next section explores some of the forms of violence children experience and </a:t>
            </a:r>
            <a:r>
              <a:rPr lang="en-US" dirty="0" err="1" smtClean="0"/>
              <a:t>theirimpact</a:t>
            </a:r>
            <a:r>
              <a:rPr lang="en-US" dirty="0" smtClean="0"/>
              <a:t>. </a:t>
            </a:r>
            <a:endParaRPr lang="en-US" dirty="0"/>
          </a:p>
        </p:txBody>
      </p:sp>
      <p:sp>
        <p:nvSpPr>
          <p:cNvPr id="4" name="Slide Number Placeholder 3"/>
          <p:cNvSpPr>
            <a:spLocks noGrp="1"/>
          </p:cNvSpPr>
          <p:nvPr>
            <p:ph type="sldNum" sz="quarter" idx="10"/>
          </p:nvPr>
        </p:nvSpPr>
        <p:spPr/>
        <p:txBody>
          <a:bodyPr/>
          <a:lstStyle/>
          <a:p>
            <a:fld id="{4424125C-4E5D-4456-B06B-95D642933F76}" type="slidenum">
              <a:rPr lang="en-US" smtClean="0"/>
              <a:t>3</a:t>
            </a:fld>
            <a:endParaRPr lang="en-US"/>
          </a:p>
        </p:txBody>
      </p:sp>
    </p:spTree>
    <p:extLst>
      <p:ext uri="{BB962C8B-B14F-4D97-AF65-F5344CB8AC3E}">
        <p14:creationId xmlns:p14="http://schemas.microsoft.com/office/powerpoint/2010/main" val="409439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Most of our clients have histories of exposure to violence. Each year nearly half of all children are exposed to some form of violence. The impact is cumulative. Children who have multiple exposures have the worst outcomes, problems with health, mental health, behavior, school performance and relationships. Increased risk for future victimization and perpetration.</a:t>
            </a:r>
          </a:p>
          <a:p>
            <a:endParaRPr lang="en-US" baseline="0" dirty="0" smtClean="0"/>
          </a:p>
        </p:txBody>
      </p:sp>
      <p:sp>
        <p:nvSpPr>
          <p:cNvPr id="4" name="Slide Number Placeholder 3"/>
          <p:cNvSpPr>
            <a:spLocks noGrp="1"/>
          </p:cNvSpPr>
          <p:nvPr>
            <p:ph type="sldNum" sz="quarter" idx="10"/>
          </p:nvPr>
        </p:nvSpPr>
        <p:spPr/>
        <p:txBody>
          <a:bodyPr/>
          <a:lstStyle/>
          <a:p>
            <a:pPr>
              <a:defRPr/>
            </a:pPr>
            <a:fld id="{695ED2B3-6442-464F-A50C-BC293CACFFF3}" type="slidenum">
              <a:rPr lang="en-US" smtClean="0"/>
              <a:pPr>
                <a:defRPr/>
              </a:pPr>
              <a:t>4</a:t>
            </a:fld>
            <a:endParaRPr lang="en-US"/>
          </a:p>
        </p:txBody>
      </p:sp>
    </p:spTree>
    <p:extLst>
      <p:ext uri="{BB962C8B-B14F-4D97-AF65-F5344CB8AC3E}">
        <p14:creationId xmlns:p14="http://schemas.microsoft.com/office/powerpoint/2010/main" val="4187342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Most pervasive form of family violence</a:t>
            </a:r>
            <a:endParaRPr lang="en-US" dirty="0"/>
          </a:p>
        </p:txBody>
      </p:sp>
      <p:sp>
        <p:nvSpPr>
          <p:cNvPr id="4" name="Slide Number Placeholder 3"/>
          <p:cNvSpPr>
            <a:spLocks noGrp="1"/>
          </p:cNvSpPr>
          <p:nvPr>
            <p:ph type="sldNum" sz="quarter" idx="10"/>
          </p:nvPr>
        </p:nvSpPr>
        <p:spPr/>
        <p:txBody>
          <a:bodyPr/>
          <a:lstStyle/>
          <a:p>
            <a:fld id="{4424125C-4E5D-4456-B06B-95D642933F76}" type="slidenum">
              <a:rPr lang="en-US" smtClean="0"/>
              <a:t>6</a:t>
            </a:fld>
            <a:endParaRPr lang="en-US"/>
          </a:p>
        </p:txBody>
      </p:sp>
    </p:spTree>
    <p:extLst>
      <p:ext uri="{BB962C8B-B14F-4D97-AF65-F5344CB8AC3E}">
        <p14:creationId xmlns:p14="http://schemas.microsoft.com/office/powerpoint/2010/main" val="123971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defTabSz="964832">
              <a:defRPr sz="3700">
                <a:solidFill>
                  <a:schemeClr val="tx1"/>
                </a:solidFill>
                <a:latin typeface="Garamond" pitchFamily="18" charset="0"/>
                <a:ea typeface="ＭＳ Ｐゴシック" pitchFamily="1" charset="-128"/>
              </a:defRPr>
            </a:lvl1pPr>
            <a:lvl2pPr marL="770549" indent="-296365" defTabSz="964832">
              <a:defRPr sz="3700">
                <a:solidFill>
                  <a:schemeClr val="tx1"/>
                </a:solidFill>
                <a:latin typeface="Garamond" pitchFamily="18" charset="0"/>
                <a:ea typeface="ＭＳ Ｐゴシック" pitchFamily="1" charset="-128"/>
              </a:defRPr>
            </a:lvl2pPr>
            <a:lvl3pPr marL="1185461" indent="-237093" defTabSz="964832">
              <a:defRPr sz="3700">
                <a:solidFill>
                  <a:schemeClr val="tx1"/>
                </a:solidFill>
                <a:latin typeface="Garamond" pitchFamily="18" charset="0"/>
                <a:ea typeface="ＭＳ Ｐゴシック" pitchFamily="1" charset="-128"/>
              </a:defRPr>
            </a:lvl3pPr>
            <a:lvl4pPr marL="1659644" indent="-237093" defTabSz="964832">
              <a:defRPr sz="3700">
                <a:solidFill>
                  <a:schemeClr val="tx1"/>
                </a:solidFill>
                <a:latin typeface="Garamond" pitchFamily="18" charset="0"/>
                <a:ea typeface="ＭＳ Ｐゴシック" pitchFamily="1" charset="-128"/>
              </a:defRPr>
            </a:lvl4pPr>
            <a:lvl5pPr marL="2133829" indent="-237093" defTabSz="964832">
              <a:defRPr sz="3700">
                <a:solidFill>
                  <a:schemeClr val="tx1"/>
                </a:solidFill>
                <a:latin typeface="Garamond" pitchFamily="18" charset="0"/>
                <a:ea typeface="ＭＳ Ｐゴシック" pitchFamily="1" charset="-128"/>
              </a:defRPr>
            </a:lvl5pPr>
            <a:lvl6pPr marL="2608013" indent="-237093" defTabSz="964832" eaLnBrk="0" fontAlgn="base" hangingPunct="0">
              <a:spcBef>
                <a:spcPct val="0"/>
              </a:spcBef>
              <a:spcAft>
                <a:spcPct val="0"/>
              </a:spcAft>
              <a:defRPr sz="3700">
                <a:solidFill>
                  <a:schemeClr val="tx1"/>
                </a:solidFill>
                <a:latin typeface="Garamond" pitchFamily="18" charset="0"/>
                <a:ea typeface="ＭＳ Ｐゴシック" pitchFamily="1" charset="-128"/>
              </a:defRPr>
            </a:lvl6pPr>
            <a:lvl7pPr marL="3082196" indent="-237093" defTabSz="964832" eaLnBrk="0" fontAlgn="base" hangingPunct="0">
              <a:spcBef>
                <a:spcPct val="0"/>
              </a:spcBef>
              <a:spcAft>
                <a:spcPct val="0"/>
              </a:spcAft>
              <a:defRPr sz="3700">
                <a:solidFill>
                  <a:schemeClr val="tx1"/>
                </a:solidFill>
                <a:latin typeface="Garamond" pitchFamily="18" charset="0"/>
                <a:ea typeface="ＭＳ Ｐゴシック" pitchFamily="1" charset="-128"/>
              </a:defRPr>
            </a:lvl7pPr>
            <a:lvl8pPr marL="3556381" indent="-237093" defTabSz="964832" eaLnBrk="0" fontAlgn="base" hangingPunct="0">
              <a:spcBef>
                <a:spcPct val="0"/>
              </a:spcBef>
              <a:spcAft>
                <a:spcPct val="0"/>
              </a:spcAft>
              <a:defRPr sz="3700">
                <a:solidFill>
                  <a:schemeClr val="tx1"/>
                </a:solidFill>
                <a:latin typeface="Garamond" pitchFamily="18" charset="0"/>
                <a:ea typeface="ＭＳ Ｐゴシック" pitchFamily="1" charset="-128"/>
              </a:defRPr>
            </a:lvl8pPr>
            <a:lvl9pPr marL="4030564" indent="-237093" defTabSz="964832" eaLnBrk="0" fontAlgn="base" hangingPunct="0">
              <a:spcBef>
                <a:spcPct val="0"/>
              </a:spcBef>
              <a:spcAft>
                <a:spcPct val="0"/>
              </a:spcAft>
              <a:defRPr sz="3700">
                <a:solidFill>
                  <a:schemeClr val="tx1"/>
                </a:solidFill>
                <a:latin typeface="Garamond" pitchFamily="18" charset="0"/>
                <a:ea typeface="ＭＳ Ｐゴシック" pitchFamily="1" charset="-128"/>
              </a:defRPr>
            </a:lvl9pPr>
          </a:lstStyle>
          <a:p>
            <a:fld id="{1379EEE3-6C59-4D2A-A799-03AA168E9857}" type="slidenum">
              <a:rPr lang="en-US" sz="1200">
                <a:latin typeface="Sylfaen" pitchFamily="18" charset="0"/>
              </a:rPr>
              <a:pPr/>
              <a:t>7</a:t>
            </a:fld>
            <a:endParaRPr lang="en-US" sz="1200">
              <a:latin typeface="Sylfaen" pitchFamily="18" charset="0"/>
            </a:endParaRPr>
          </a:p>
        </p:txBody>
      </p:sp>
      <p:sp>
        <p:nvSpPr>
          <p:cNvPr id="51203" name="Rectangle 7"/>
          <p:cNvSpPr txBox="1">
            <a:spLocks noGrp="1" noChangeArrowheads="1"/>
          </p:cNvSpPr>
          <p:nvPr/>
        </p:nvSpPr>
        <p:spPr bwMode="auto">
          <a:xfrm>
            <a:off x="4142963" y="9119173"/>
            <a:ext cx="3170583" cy="480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6633" tIns="48317" rIns="96633" bIns="48317" anchor="b"/>
          <a:lstStyle>
            <a:lvl1pPr defTabSz="931863">
              <a:defRPr sz="3600">
                <a:solidFill>
                  <a:schemeClr val="tx1"/>
                </a:solidFill>
                <a:latin typeface="Garamond" pitchFamily="18" charset="0"/>
                <a:ea typeface="ＭＳ Ｐゴシック" pitchFamily="1" charset="-128"/>
              </a:defRPr>
            </a:lvl1pPr>
            <a:lvl2pPr marL="742950" indent="-285750" defTabSz="931863">
              <a:defRPr sz="3600">
                <a:solidFill>
                  <a:schemeClr val="tx1"/>
                </a:solidFill>
                <a:latin typeface="Garamond" pitchFamily="18" charset="0"/>
                <a:ea typeface="ＭＳ Ｐゴシック" pitchFamily="1" charset="-128"/>
              </a:defRPr>
            </a:lvl2pPr>
            <a:lvl3pPr marL="1143000" indent="-228600" defTabSz="931863">
              <a:defRPr sz="3600">
                <a:solidFill>
                  <a:schemeClr val="tx1"/>
                </a:solidFill>
                <a:latin typeface="Garamond" pitchFamily="18" charset="0"/>
                <a:ea typeface="ＭＳ Ｐゴシック" pitchFamily="1" charset="-128"/>
              </a:defRPr>
            </a:lvl3pPr>
            <a:lvl4pPr marL="1600200" indent="-228600" defTabSz="931863">
              <a:defRPr sz="3600">
                <a:solidFill>
                  <a:schemeClr val="tx1"/>
                </a:solidFill>
                <a:latin typeface="Garamond" pitchFamily="18" charset="0"/>
                <a:ea typeface="ＭＳ Ｐゴシック" pitchFamily="1" charset="-128"/>
              </a:defRPr>
            </a:lvl4pPr>
            <a:lvl5pPr marL="2057400" indent="-228600" defTabSz="931863">
              <a:defRPr sz="3600">
                <a:solidFill>
                  <a:schemeClr val="tx1"/>
                </a:solidFill>
                <a:latin typeface="Garamond" pitchFamily="18" charset="0"/>
                <a:ea typeface="ＭＳ Ｐゴシック" pitchFamily="1" charset="-128"/>
              </a:defRPr>
            </a:lvl5pPr>
            <a:lvl6pPr marL="2514600" indent="-228600" defTabSz="931863" eaLnBrk="0" fontAlgn="base" hangingPunct="0">
              <a:spcBef>
                <a:spcPct val="0"/>
              </a:spcBef>
              <a:spcAft>
                <a:spcPct val="0"/>
              </a:spcAft>
              <a:defRPr sz="3600">
                <a:solidFill>
                  <a:schemeClr val="tx1"/>
                </a:solidFill>
                <a:latin typeface="Garamond" pitchFamily="18" charset="0"/>
                <a:ea typeface="ＭＳ Ｐゴシック" pitchFamily="1" charset="-128"/>
              </a:defRPr>
            </a:lvl6pPr>
            <a:lvl7pPr marL="2971800" indent="-228600" defTabSz="931863" eaLnBrk="0" fontAlgn="base" hangingPunct="0">
              <a:spcBef>
                <a:spcPct val="0"/>
              </a:spcBef>
              <a:spcAft>
                <a:spcPct val="0"/>
              </a:spcAft>
              <a:defRPr sz="3600">
                <a:solidFill>
                  <a:schemeClr val="tx1"/>
                </a:solidFill>
                <a:latin typeface="Garamond" pitchFamily="18" charset="0"/>
                <a:ea typeface="ＭＳ Ｐゴシック" pitchFamily="1" charset="-128"/>
              </a:defRPr>
            </a:lvl7pPr>
            <a:lvl8pPr marL="3429000" indent="-228600" defTabSz="931863" eaLnBrk="0" fontAlgn="base" hangingPunct="0">
              <a:spcBef>
                <a:spcPct val="0"/>
              </a:spcBef>
              <a:spcAft>
                <a:spcPct val="0"/>
              </a:spcAft>
              <a:defRPr sz="3600">
                <a:solidFill>
                  <a:schemeClr val="tx1"/>
                </a:solidFill>
                <a:latin typeface="Garamond" pitchFamily="18" charset="0"/>
                <a:ea typeface="ＭＳ Ｐゴシック" pitchFamily="1" charset="-128"/>
              </a:defRPr>
            </a:lvl8pPr>
            <a:lvl9pPr marL="3886200" indent="-228600" defTabSz="931863" eaLnBrk="0" fontAlgn="base" hangingPunct="0">
              <a:spcBef>
                <a:spcPct val="0"/>
              </a:spcBef>
              <a:spcAft>
                <a:spcPct val="0"/>
              </a:spcAft>
              <a:defRPr sz="3600">
                <a:solidFill>
                  <a:schemeClr val="tx1"/>
                </a:solidFill>
                <a:latin typeface="Garamond" pitchFamily="18" charset="0"/>
                <a:ea typeface="ＭＳ Ｐゴシック" pitchFamily="1" charset="-128"/>
              </a:defRPr>
            </a:lvl9pPr>
          </a:lstStyle>
          <a:p>
            <a:pPr algn="r" eaLnBrk="1" hangingPunct="1"/>
            <a:fld id="{8B6CAC0A-7374-4072-88C3-AAC447C19D9D}" type="slidenum">
              <a:rPr lang="en-US" sz="1200">
                <a:latin typeface="Sylfaen" pitchFamily="18" charset="0"/>
              </a:rPr>
              <a:pPr algn="r" eaLnBrk="1" hangingPunct="1"/>
              <a:t>7</a:t>
            </a:fld>
            <a:endParaRPr lang="en-US" sz="1200">
              <a:latin typeface="Sylfaen" pitchFamily="18" charset="0"/>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p:spPr>
        <p:txBody>
          <a:bodyPr/>
          <a:lstStyle/>
          <a:p>
            <a:pPr eaLnBrk="1" hangingPunct="1"/>
            <a:r>
              <a:rPr lang="en-US" dirty="0" smtClean="0"/>
              <a:t>Children who are exposed to DV are at increased risk for abuse</a:t>
            </a:r>
            <a:r>
              <a:rPr lang="en-US" baseline="0" dirty="0" smtClean="0"/>
              <a:t> in their peer and dating relationships. They have learned that hurtful and controlling behaviors are acceptable and they HAVE NOT learned the skills and trust required for healthy relationships. Communication, expressing feelings, resolving conflict, balancing power, setting and respecting limits and boundaries.</a:t>
            </a:r>
            <a:endParaRPr lang="en-US" dirty="0"/>
          </a:p>
        </p:txBody>
      </p:sp>
      <p:sp>
        <p:nvSpPr>
          <p:cNvPr id="2" name="Footer Placeholder 1"/>
          <p:cNvSpPr>
            <a:spLocks noGrp="1"/>
          </p:cNvSpPr>
          <p:nvPr>
            <p:ph type="ftr" sz="quarter" idx="10"/>
          </p:nvPr>
        </p:nvSpPr>
        <p:spPr/>
        <p:txBody>
          <a:bodyPr/>
          <a:lstStyle/>
          <a:p>
            <a:pPr>
              <a:defRPr/>
            </a:pPr>
            <a:r>
              <a:rPr lang="en-US" smtClean="0"/>
              <a:t>BRosenbluth, SafePlace, 03-14-14</a:t>
            </a:r>
            <a:endParaRPr lang="en-US"/>
          </a:p>
        </p:txBody>
      </p:sp>
    </p:spTree>
    <p:extLst>
      <p:ext uri="{BB962C8B-B14F-4D97-AF65-F5344CB8AC3E}">
        <p14:creationId xmlns:p14="http://schemas.microsoft.com/office/powerpoint/2010/main" val="434008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424125C-4E5D-4456-B06B-95D642933F76}" type="slidenum">
              <a:rPr lang="en-US" smtClean="0"/>
              <a:t>11</a:t>
            </a:fld>
            <a:endParaRPr lang="en-US"/>
          </a:p>
        </p:txBody>
      </p:sp>
    </p:spTree>
    <p:extLst>
      <p:ext uri="{BB962C8B-B14F-4D97-AF65-F5344CB8AC3E}">
        <p14:creationId xmlns:p14="http://schemas.microsoft.com/office/powerpoint/2010/main" val="35671057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next section explores some of the forms of violence children experience and </a:t>
            </a:r>
            <a:r>
              <a:rPr lang="en-US" dirty="0" err="1" smtClean="0"/>
              <a:t>theirimpact</a:t>
            </a:r>
            <a:r>
              <a:rPr lang="en-US" dirty="0" smtClean="0"/>
              <a:t>. </a:t>
            </a:r>
            <a:endParaRPr lang="en-US" dirty="0"/>
          </a:p>
        </p:txBody>
      </p:sp>
      <p:sp>
        <p:nvSpPr>
          <p:cNvPr id="4" name="Slide Number Placeholder 3"/>
          <p:cNvSpPr>
            <a:spLocks noGrp="1"/>
          </p:cNvSpPr>
          <p:nvPr>
            <p:ph type="sldNum" sz="quarter" idx="10"/>
          </p:nvPr>
        </p:nvSpPr>
        <p:spPr/>
        <p:txBody>
          <a:bodyPr/>
          <a:lstStyle/>
          <a:p>
            <a:fld id="{4424125C-4E5D-4456-B06B-95D642933F76}" type="slidenum">
              <a:rPr lang="en-US" smtClean="0"/>
              <a:t>14</a:t>
            </a:fld>
            <a:endParaRPr lang="en-US"/>
          </a:p>
        </p:txBody>
      </p:sp>
    </p:spTree>
    <p:extLst>
      <p:ext uri="{BB962C8B-B14F-4D97-AF65-F5344CB8AC3E}">
        <p14:creationId xmlns:p14="http://schemas.microsoft.com/office/powerpoint/2010/main" val="4000441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Greeting, thank you and introductions</a:t>
            </a:r>
          </a:p>
          <a:p>
            <a:endParaRPr lang="en-US" dirty="0"/>
          </a:p>
          <a:p>
            <a:endParaRPr lang="en-US" dirty="0"/>
          </a:p>
        </p:txBody>
      </p:sp>
      <p:sp>
        <p:nvSpPr>
          <p:cNvPr id="4" name="Slide Number Placeholder 3"/>
          <p:cNvSpPr>
            <a:spLocks noGrp="1"/>
          </p:cNvSpPr>
          <p:nvPr>
            <p:ph type="sldNum" sz="quarter" idx="10"/>
          </p:nvPr>
        </p:nvSpPr>
        <p:spPr/>
        <p:txBody>
          <a:bodyPr/>
          <a:lstStyle/>
          <a:p>
            <a:fld id="{F6302A2A-2C75-4FD7-A549-5D71040716D1}" type="slidenum">
              <a:rPr lang="en-US" smtClean="0"/>
              <a:t>15</a:t>
            </a:fld>
            <a:endParaRPr lang="en-US"/>
          </a:p>
        </p:txBody>
      </p:sp>
    </p:spTree>
    <p:extLst>
      <p:ext uri="{BB962C8B-B14F-4D97-AF65-F5344CB8AC3E}">
        <p14:creationId xmlns:p14="http://schemas.microsoft.com/office/powerpoint/2010/main" val="2016539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424125C-4E5D-4456-B06B-95D642933F76}" type="slidenum">
              <a:rPr lang="en-US" smtClean="0"/>
              <a:t>16</a:t>
            </a:fld>
            <a:endParaRPr lang="en-US"/>
          </a:p>
        </p:txBody>
      </p:sp>
    </p:spTree>
    <p:extLst>
      <p:ext uri="{BB962C8B-B14F-4D97-AF65-F5344CB8AC3E}">
        <p14:creationId xmlns:p14="http://schemas.microsoft.com/office/powerpoint/2010/main" val="1897776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097280" y="758952"/>
            <a:ext cx="10058400" cy="3566160"/>
          </a:xfrm>
        </p:spPr>
        <p:txBody>
          <a:bodyPr anchor="b">
            <a:normAutofit/>
          </a:bodyPr>
          <a:lstStyle>
            <a:lvl1pPr algn="l">
              <a:lnSpc>
                <a:spcPct val="85000"/>
              </a:lnSpc>
              <a:defRPr sz="7200" spc="-50" baseline="0">
                <a:solidFill>
                  <a:schemeClr val="tx1">
                    <a:lumMod val="85000"/>
                    <a:lumOff val="15000"/>
                  </a:schemeClr>
                </a:solidFill>
              </a:defRPr>
            </a:lvl1pPr>
          </a:lstStyle>
          <a:p>
            <a:r>
              <a:rPr lang="en-US" dirty="0" smtClean="0"/>
              <a:t>Presentation Title</a:t>
            </a:r>
            <a:endParaRPr lang="en-US" dirty="0"/>
          </a:p>
        </p:txBody>
      </p:sp>
      <p:sp>
        <p:nvSpPr>
          <p:cNvPr id="3" name="Subtitle 2"/>
          <p:cNvSpPr>
            <a:spLocks noGrp="1"/>
          </p:cNvSpPr>
          <p:nvPr>
            <p:ph type="subTitle" idx="1" hasCustomPrompt="1"/>
          </p:nvPr>
        </p:nvSpPr>
        <p:spPr>
          <a:xfrm>
            <a:off x="1100051" y="4455620"/>
            <a:ext cx="10058400" cy="1143000"/>
          </a:xfrm>
        </p:spPr>
        <p:txBody>
          <a:bodyPr lIns="91440" rIns="91440">
            <a:normAutofit/>
          </a:bodyPr>
          <a:lstStyle>
            <a:lvl1pPr marL="0" indent="0" algn="l">
              <a:buNone/>
              <a:defRPr sz="2400" cap="all" spc="200" baseline="0">
                <a:solidFill>
                  <a:schemeClr val="tx1">
                    <a:lumMod val="50000"/>
                    <a:lumOff val="50000"/>
                  </a:schemeClr>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smtClean="0"/>
              <a:t>Presenter name</a:t>
            </a:r>
            <a:r>
              <a:rPr lang="en-US" dirty="0"/>
              <a:t> </a:t>
            </a:r>
            <a:r>
              <a:rPr lang="en-US" dirty="0" smtClean="0"/>
              <a:t>&amp; title</a:t>
            </a:r>
          </a:p>
          <a:p>
            <a:r>
              <a:rPr lang="en-US" dirty="0" smtClean="0"/>
              <a:t>Date &amp; location of presentation</a:t>
            </a:r>
          </a:p>
        </p:txBody>
      </p:sp>
      <p:sp>
        <p:nvSpPr>
          <p:cNvPr id="4" name="Date Placeholder 3"/>
          <p:cNvSpPr>
            <a:spLocks noGrp="1"/>
          </p:cNvSpPr>
          <p:nvPr>
            <p:ph type="dt" sz="half" idx="10"/>
          </p:nvPr>
        </p:nvSpPr>
        <p:spPr/>
        <p:txBody>
          <a:bodyPr/>
          <a:lstStyle/>
          <a:p>
            <a:fld id="{3D8FAAEB-0FAC-4386-9BF4-22664FDF2FC6}" type="datetime1">
              <a:rPr lang="en-US" smtClean="0"/>
              <a:t>4/7/2020</a:t>
            </a:fld>
            <a:endParaRPr lang="en-US" dirty="0"/>
          </a:p>
        </p:txBody>
      </p:sp>
      <p:sp>
        <p:nvSpPr>
          <p:cNvPr id="5" name="Footer Placeholder 4"/>
          <p:cNvSpPr>
            <a:spLocks noGrp="1"/>
          </p:cNvSpPr>
          <p:nvPr>
            <p:ph type="ftr" sz="quarter" idx="11"/>
          </p:nvPr>
        </p:nvSpPr>
        <p:spPr/>
        <p:txBody>
          <a:bodyPr/>
          <a:lstStyle>
            <a:lvl1pPr>
              <a:defRPr>
                <a:latin typeface="Verdana"/>
                <a:cs typeface="Verdana"/>
              </a:defRPr>
            </a:lvl1pPr>
          </a:lstStyle>
          <a:p>
            <a:r>
              <a:rPr lang="en-US" dirty="0" smtClean="0"/>
              <a:t>© 2015 The SAFE Alliance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94719" y="793420"/>
            <a:ext cx="2515244" cy="43313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smtClean="0"/>
              <a:t>Slide Title</a:t>
            </a:r>
            <a:endParaRPr lang="en-US" dirty="0"/>
          </a:p>
        </p:txBody>
      </p:sp>
      <p:sp>
        <p:nvSpPr>
          <p:cNvPr id="3" name="Content Placeholder 2"/>
          <p:cNvSpPr>
            <a:spLocks noGrp="1"/>
          </p:cNvSpPr>
          <p:nvPr>
            <p:ph idx="1"/>
          </p:nvPr>
        </p:nvSpPr>
        <p:spPr/>
        <p:txBody>
          <a:bodyPr/>
          <a:lstStyle>
            <a:lvl1pPr>
              <a:defRPr>
                <a:latin typeface="Verdana"/>
                <a:cs typeface="Verdana"/>
              </a:defRPr>
            </a:lvl1pPr>
            <a:lvl2pPr>
              <a:defRPr>
                <a:latin typeface="Verdana"/>
                <a:cs typeface="Verdana"/>
              </a:defRPr>
            </a:lvl2pPr>
            <a:lvl3pPr>
              <a:defRPr>
                <a:latin typeface="Verdana"/>
                <a:cs typeface="Verdana"/>
              </a:defRPr>
            </a:lvl3pPr>
            <a:lvl4pPr>
              <a:defRPr>
                <a:latin typeface="Verdana"/>
                <a:cs typeface="Verdana"/>
              </a:defRPr>
            </a:lvl4pPr>
            <a:lvl5pPr>
              <a:defRPr>
                <a:latin typeface="Verdana"/>
                <a:cs typeface="Verdan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301BE6A4-1AED-49C6-BF88-8BF6125D4A6A}" type="datetime1">
              <a:rPr lang="en-US" smtClean="0"/>
              <a:t>4/7/2020</a:t>
            </a:fld>
            <a:endParaRPr lang="en-US" dirty="0"/>
          </a:p>
        </p:txBody>
      </p:sp>
      <p:sp>
        <p:nvSpPr>
          <p:cNvPr id="5" name="Footer Placeholder 4"/>
          <p:cNvSpPr>
            <a:spLocks noGrp="1"/>
          </p:cNvSpPr>
          <p:nvPr>
            <p:ph type="ftr" sz="quarter" idx="11"/>
          </p:nvPr>
        </p:nvSpPr>
        <p:spPr/>
        <p:txBody>
          <a:bodyPr/>
          <a:lstStyle>
            <a:lvl1pPr>
              <a:defRPr>
                <a:latin typeface="Verdana"/>
                <a:cs typeface="Verdana"/>
              </a:defRPr>
            </a:lvl1pPr>
          </a:lstStyle>
          <a:p>
            <a:r>
              <a:rPr lang="en-US" dirty="0" smtClean="0"/>
              <a:t>© 2015 The SAFE Alliance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a:xfrm>
            <a:off x="1097280" y="758952"/>
            <a:ext cx="10058400" cy="3566160"/>
          </a:xfrm>
        </p:spPr>
        <p:txBody>
          <a:bodyPr anchor="b" anchorCtr="0">
            <a:normAutofit/>
          </a:bodyPr>
          <a:lstStyle>
            <a:lvl1pPr>
              <a:lnSpc>
                <a:spcPct val="85000"/>
              </a:lnSpc>
              <a:defRPr sz="8000" b="0" baseline="0">
                <a:solidFill>
                  <a:schemeClr val="tx1">
                    <a:lumMod val="85000"/>
                    <a:lumOff val="15000"/>
                  </a:schemeClr>
                </a:solidFill>
              </a:defRPr>
            </a:lvl1pPr>
          </a:lstStyle>
          <a:p>
            <a:r>
              <a:rPr lang="en-US" dirty="0" smtClean="0"/>
              <a:t>Section Title</a:t>
            </a:r>
            <a:endParaRPr lang="en-US" dirty="0"/>
          </a:p>
        </p:txBody>
      </p:sp>
      <p:sp>
        <p:nvSpPr>
          <p:cNvPr id="3" name="Text Placeholder 2"/>
          <p:cNvSpPr>
            <a:spLocks noGrp="1"/>
          </p:cNvSpPr>
          <p:nvPr>
            <p:ph type="body" idx="1" hasCustomPrompt="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Subhead if needed</a:t>
            </a:r>
          </a:p>
        </p:txBody>
      </p:sp>
      <p:sp>
        <p:nvSpPr>
          <p:cNvPr id="4" name="Date Placeholder 3"/>
          <p:cNvSpPr>
            <a:spLocks noGrp="1"/>
          </p:cNvSpPr>
          <p:nvPr>
            <p:ph type="dt" sz="half" idx="10"/>
          </p:nvPr>
        </p:nvSpPr>
        <p:spPr/>
        <p:txBody>
          <a:bodyPr/>
          <a:lstStyle/>
          <a:p>
            <a:fld id="{6FD00D30-2A29-4C08-968E-A880E5671166}" type="datetime1">
              <a:rPr lang="en-US" smtClean="0"/>
              <a:t>4/7/2020</a:t>
            </a:fld>
            <a:endParaRPr lang="en-US" dirty="0"/>
          </a:p>
        </p:txBody>
      </p:sp>
      <p:sp>
        <p:nvSpPr>
          <p:cNvPr id="5" name="Footer Placeholder 4"/>
          <p:cNvSpPr>
            <a:spLocks noGrp="1"/>
          </p:cNvSpPr>
          <p:nvPr>
            <p:ph type="ftr" sz="quarter" idx="11"/>
          </p:nvPr>
        </p:nvSpPr>
        <p:spPr/>
        <p:txBody>
          <a:bodyPr/>
          <a:lstStyle>
            <a:lvl1pPr>
              <a:defRPr>
                <a:latin typeface="Verdana"/>
                <a:cs typeface="Verdana"/>
              </a:defRPr>
            </a:lvl1pPr>
          </a:lstStyle>
          <a:p>
            <a:r>
              <a:rPr lang="en-US" dirty="0" smtClean="0"/>
              <a:t>© 2015 The SAFE Alliance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52231" y="831062"/>
            <a:ext cx="1503449" cy="49599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1097280" y="286603"/>
            <a:ext cx="10058400" cy="1450757"/>
          </a:xfrm>
        </p:spPr>
        <p:txBody>
          <a:bodyPr/>
          <a:lstStyle>
            <a:lvl1pPr>
              <a:defRPr/>
            </a:lvl1pPr>
          </a:lstStyle>
          <a:p>
            <a:r>
              <a:rPr lang="en-US" dirty="0" smtClean="0"/>
              <a:t>Slide Title</a:t>
            </a:r>
            <a:endParaRPr lang="en-US" dirty="0"/>
          </a:p>
        </p:txBody>
      </p:sp>
      <p:sp>
        <p:nvSpPr>
          <p:cNvPr id="3" name="Content Placeholder 2"/>
          <p:cNvSpPr>
            <a:spLocks noGrp="1"/>
          </p:cNvSpPr>
          <p:nvPr>
            <p:ph sz="half" idx="1"/>
          </p:nvPr>
        </p:nvSpPr>
        <p:spPr>
          <a:xfrm>
            <a:off x="1097279" y="1845734"/>
            <a:ext cx="4937760" cy="4023360"/>
          </a:xfrm>
        </p:spPr>
        <p:txBody>
          <a:bodyPr/>
          <a:lstStyle>
            <a:lvl1pPr>
              <a:defRPr>
                <a:latin typeface="Verdana"/>
                <a:cs typeface="Verdana"/>
              </a:defRPr>
            </a:lvl1pPr>
            <a:lvl2pPr>
              <a:defRPr>
                <a:latin typeface="Verdana"/>
                <a:cs typeface="Verdana"/>
              </a:defRPr>
            </a:lvl2pPr>
            <a:lvl3pPr>
              <a:defRPr>
                <a:latin typeface="Verdana"/>
                <a:cs typeface="Verdana"/>
              </a:defRPr>
            </a:lvl3pPr>
            <a:lvl4pPr>
              <a:defRPr>
                <a:latin typeface="Verdana"/>
                <a:cs typeface="Verdana"/>
              </a:defRPr>
            </a:lvl4pPr>
            <a:lvl5pPr>
              <a:defRPr>
                <a:latin typeface="Verdana"/>
                <a:cs typeface="Verdan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lvl1pPr>
              <a:defRPr>
                <a:latin typeface="Verdana"/>
                <a:cs typeface="Verdana"/>
              </a:defRPr>
            </a:lvl1pPr>
            <a:lvl2pPr>
              <a:defRPr>
                <a:latin typeface="Verdana"/>
                <a:cs typeface="Verdana"/>
              </a:defRPr>
            </a:lvl2pPr>
            <a:lvl3pPr>
              <a:defRPr>
                <a:latin typeface="Verdana"/>
                <a:cs typeface="Verdana"/>
              </a:defRPr>
            </a:lvl3pPr>
            <a:lvl4pPr>
              <a:defRPr>
                <a:latin typeface="Verdana"/>
                <a:cs typeface="Verdana"/>
              </a:defRPr>
            </a:lvl4pPr>
            <a:lvl5pPr>
              <a:defRPr>
                <a:latin typeface="Verdana"/>
                <a:cs typeface="Verdan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E7AC38CB-AD12-4964-B945-9CDC475DFEC6}" type="datetime1">
              <a:rPr lang="en-US" smtClean="0"/>
              <a:t>4/7/2020</a:t>
            </a:fld>
            <a:endParaRPr lang="en-US" dirty="0"/>
          </a:p>
        </p:txBody>
      </p:sp>
      <p:sp>
        <p:nvSpPr>
          <p:cNvPr id="6" name="Footer Placeholder 5"/>
          <p:cNvSpPr>
            <a:spLocks noGrp="1"/>
          </p:cNvSpPr>
          <p:nvPr>
            <p:ph type="ftr" sz="quarter" idx="11"/>
          </p:nvPr>
        </p:nvSpPr>
        <p:spPr/>
        <p:txBody>
          <a:bodyPr/>
          <a:lstStyle>
            <a:lvl1pPr>
              <a:defRPr>
                <a:latin typeface="Verdana"/>
                <a:cs typeface="Verdana"/>
              </a:defRPr>
            </a:lvl1pPr>
          </a:lstStyle>
          <a:p>
            <a:r>
              <a:rPr lang="en-US" dirty="0" smtClean="0"/>
              <a:t>© 2015 The SAFE Alliance</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hasCustomPrompt="1"/>
          </p:nvPr>
        </p:nvSpPr>
        <p:spPr>
          <a:xfrm>
            <a:off x="1097280" y="286603"/>
            <a:ext cx="10058400" cy="1450757"/>
          </a:xfrm>
        </p:spPr>
        <p:txBody>
          <a:bodyPr/>
          <a:lstStyle>
            <a:lvl1pPr>
              <a:defRPr/>
            </a:lvl1pPr>
          </a:lstStyle>
          <a:p>
            <a:r>
              <a:rPr lang="en-US" dirty="0" smtClean="0"/>
              <a:t>Slide Title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1800" b="0" cap="all" baseline="0">
                <a:solidFill>
                  <a:schemeClr val="tx2"/>
                </a:solidFill>
                <a:latin typeface="Verdana"/>
                <a:cs typeface="Verdan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lvl1pPr>
              <a:defRPr>
                <a:latin typeface="Verdana"/>
                <a:cs typeface="Verdana"/>
              </a:defRPr>
            </a:lvl1pPr>
            <a:lvl2pPr>
              <a:defRPr>
                <a:latin typeface="Verdana"/>
                <a:cs typeface="Verdana"/>
              </a:defRPr>
            </a:lvl2pPr>
            <a:lvl3pPr>
              <a:defRPr>
                <a:latin typeface="Verdana"/>
                <a:cs typeface="Verdana"/>
              </a:defRPr>
            </a:lvl3pPr>
            <a:lvl4pPr>
              <a:defRPr>
                <a:latin typeface="Verdana"/>
                <a:cs typeface="Verdana"/>
              </a:defRPr>
            </a:lvl4pPr>
            <a:lvl5pPr>
              <a:defRPr>
                <a:latin typeface="Verdana"/>
                <a:cs typeface="Verdan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1800" b="0" cap="all" baseline="0">
                <a:solidFill>
                  <a:schemeClr val="tx2"/>
                </a:solidFill>
                <a:latin typeface="Verdana"/>
                <a:cs typeface="Verdan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lvl1pPr>
              <a:defRPr>
                <a:latin typeface="Verdana"/>
                <a:cs typeface="Verdana"/>
              </a:defRPr>
            </a:lvl1pPr>
            <a:lvl2pPr>
              <a:defRPr>
                <a:latin typeface="Verdana"/>
                <a:cs typeface="Verdana"/>
              </a:defRPr>
            </a:lvl2pPr>
            <a:lvl3pPr>
              <a:defRPr>
                <a:latin typeface="Verdana"/>
                <a:cs typeface="Verdana"/>
              </a:defRPr>
            </a:lvl3pPr>
            <a:lvl4pPr>
              <a:defRPr>
                <a:latin typeface="Verdana"/>
                <a:cs typeface="Verdana"/>
              </a:defRPr>
            </a:lvl4pPr>
            <a:lvl5pPr>
              <a:defRPr>
                <a:latin typeface="Verdana"/>
                <a:cs typeface="Verdana"/>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0397BD87-E6D5-4BBE-8A55-6F1AE8E01C8D}" type="datetime1">
              <a:rPr lang="en-US" smtClean="0"/>
              <a:t>4/7/2020</a:t>
            </a:fld>
            <a:endParaRPr lang="en-US" dirty="0"/>
          </a:p>
        </p:txBody>
      </p:sp>
      <p:sp>
        <p:nvSpPr>
          <p:cNvPr id="8" name="Footer Placeholder 7"/>
          <p:cNvSpPr>
            <a:spLocks noGrp="1"/>
          </p:cNvSpPr>
          <p:nvPr>
            <p:ph type="ftr" sz="quarter" idx="11"/>
          </p:nvPr>
        </p:nvSpPr>
        <p:spPr/>
        <p:txBody>
          <a:bodyPr/>
          <a:lstStyle>
            <a:lvl1pPr>
              <a:defRPr>
                <a:latin typeface="Verdana"/>
                <a:cs typeface="Verdana"/>
              </a:defRPr>
            </a:lvl1pPr>
          </a:lstStyle>
          <a:p>
            <a:r>
              <a:rPr lang="en-US" dirty="0" smtClean="0"/>
              <a:t>© 2015 The SAFE Alliance</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Slide Title</a:t>
            </a:r>
            <a:endParaRPr lang="en-US" dirty="0"/>
          </a:p>
        </p:txBody>
      </p:sp>
      <p:sp>
        <p:nvSpPr>
          <p:cNvPr id="3" name="Date Placeholder 2"/>
          <p:cNvSpPr>
            <a:spLocks noGrp="1"/>
          </p:cNvSpPr>
          <p:nvPr>
            <p:ph type="dt" sz="half" idx="10"/>
          </p:nvPr>
        </p:nvSpPr>
        <p:spPr/>
        <p:txBody>
          <a:bodyPr/>
          <a:lstStyle/>
          <a:p>
            <a:fld id="{88A0E965-BE6D-49DB-A81B-2D7FD52163EC}" type="datetime1">
              <a:rPr lang="en-US" smtClean="0"/>
              <a:t>4/7/2020</a:t>
            </a:fld>
            <a:endParaRPr lang="en-US" dirty="0"/>
          </a:p>
        </p:txBody>
      </p:sp>
      <p:sp>
        <p:nvSpPr>
          <p:cNvPr id="4" name="Footer Placeholder 3"/>
          <p:cNvSpPr>
            <a:spLocks noGrp="1"/>
          </p:cNvSpPr>
          <p:nvPr>
            <p:ph type="ftr" sz="quarter" idx="11"/>
          </p:nvPr>
        </p:nvSpPr>
        <p:spPr/>
        <p:txBody>
          <a:bodyPr/>
          <a:lstStyle/>
          <a:p>
            <a:r>
              <a:rPr lang="en-US" dirty="0" smtClean="0"/>
              <a:t>© 2015 The SAFE Alliance</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232A1A1-2B82-4BE7-95E3-89470146C599}" type="datetime1">
              <a:rPr lang="en-US" smtClean="0"/>
              <a:t>4/7/2020</a:t>
            </a:fld>
            <a:endParaRPr lang="en-US" dirty="0"/>
          </a:p>
        </p:txBody>
      </p:sp>
      <p:sp>
        <p:nvSpPr>
          <p:cNvPr id="8" name="Footer Placeholder 7"/>
          <p:cNvSpPr>
            <a:spLocks noGrp="1"/>
          </p:cNvSpPr>
          <p:nvPr>
            <p:ph type="ftr" sz="quarter" idx="11"/>
          </p:nvPr>
        </p:nvSpPr>
        <p:spPr/>
        <p:txBody>
          <a:bodyPr/>
          <a:lstStyle>
            <a:lvl1pPr>
              <a:defRPr>
                <a:solidFill>
                  <a:srgbClr val="FFFFFF"/>
                </a:solidFill>
                <a:latin typeface="Verdana"/>
                <a:cs typeface="Verdana"/>
              </a:defRPr>
            </a:lvl1pPr>
          </a:lstStyle>
          <a:p>
            <a:r>
              <a:rPr lang="en-US" dirty="0" smtClean="0"/>
              <a:t>© 2015 The SAFE Alliance</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SafePlace Interim">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a:xfrm>
            <a:off x="457200" y="594359"/>
            <a:ext cx="3200400" cy="2286000"/>
          </a:xfrm>
        </p:spPr>
        <p:txBody>
          <a:bodyPr anchor="b">
            <a:normAutofit/>
          </a:bodyPr>
          <a:lstStyle>
            <a:lvl1pPr>
              <a:defRPr sz="3600" b="0">
                <a:solidFill>
                  <a:srgbClr val="FFFFFF"/>
                </a:solidFill>
              </a:defRPr>
            </a:lvl1pPr>
          </a:lstStyle>
          <a:p>
            <a:r>
              <a:rPr lang="en-US" dirty="0" smtClean="0"/>
              <a:t>Slide Title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latin typeface="Verdana"/>
                <a:cs typeface="Verdan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B171476-73AF-4731-A98A-C7C9BF6B964C}" type="datetime1">
              <a:rPr lang="en-US" smtClean="0"/>
              <a:t>4/7/2020</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latin typeface="Verdana"/>
                <a:cs typeface="Verdana"/>
              </a:defRPr>
            </a:lvl1pPr>
          </a:lstStyle>
          <a:p>
            <a:r>
              <a:rPr lang="en-US" dirty="0" smtClean="0"/>
              <a:t>© 2015 The SAFE Alliance</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885765"/>
            <a:ext cx="12188825" cy="19722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dirty="0" smtClean="0"/>
              <a:t>Photo slide title or caption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latin typeface="Verdana"/>
                <a:cs typeface="Verdana"/>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hasCustomPrompt="1"/>
          </p:nvPr>
        </p:nvSpPr>
        <p:spPr>
          <a:xfrm>
            <a:off x="1097280" y="5907023"/>
            <a:ext cx="10113264" cy="594360"/>
          </a:xfrm>
        </p:spPr>
        <p:txBody>
          <a:bodyPr lIns="91440" tIns="0" rIns="91440" bIns="0">
            <a:normAutofit/>
          </a:bodyPr>
          <a:lstStyle>
            <a:lvl1pPr marL="0" indent="0">
              <a:spcBef>
                <a:spcPts val="0"/>
              </a:spcBef>
              <a:spcAft>
                <a:spcPts val="600"/>
              </a:spcAft>
              <a:buNone/>
              <a:defRPr sz="1500" baseline="0">
                <a:solidFill>
                  <a:srgbClr val="FFFFFF"/>
                </a:solidFill>
                <a:latin typeface="Verdana"/>
                <a:cs typeface="Verdan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Sub-caption if needed</a:t>
            </a:r>
          </a:p>
        </p:txBody>
      </p:sp>
      <p:sp>
        <p:nvSpPr>
          <p:cNvPr id="5" name="Date Placeholder 4"/>
          <p:cNvSpPr>
            <a:spLocks noGrp="1"/>
          </p:cNvSpPr>
          <p:nvPr>
            <p:ph type="dt" sz="half" idx="10"/>
          </p:nvPr>
        </p:nvSpPr>
        <p:spPr/>
        <p:txBody>
          <a:bodyPr/>
          <a:lstStyle/>
          <a:p>
            <a:fld id="{46EB3E89-C2B1-4482-BDEA-A4DD0D12BF96}" type="datetime1">
              <a:rPr lang="en-US" smtClean="0"/>
              <a:t>4/7/2020</a:t>
            </a:fld>
            <a:endParaRPr lang="en-US" dirty="0"/>
          </a:p>
        </p:txBody>
      </p:sp>
      <p:sp>
        <p:nvSpPr>
          <p:cNvPr id="6" name="Footer Placeholder 5"/>
          <p:cNvSpPr>
            <a:spLocks noGrp="1"/>
          </p:cNvSpPr>
          <p:nvPr>
            <p:ph type="ftr" sz="quarter" idx="11"/>
          </p:nvPr>
        </p:nvSpPr>
        <p:spPr/>
        <p:txBody>
          <a:bodyPr/>
          <a:lstStyle>
            <a:lvl1pPr>
              <a:defRPr>
                <a:latin typeface="Verdana"/>
                <a:cs typeface="Verdana"/>
              </a:defRPr>
            </a:lvl1pPr>
          </a:lstStyle>
          <a:p>
            <a:r>
              <a:rPr lang="en-US" smtClean="0"/>
              <a:t>© 2015 The SAFE Alliance</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smtClean="0"/>
              <a:t>Slide Title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latin typeface="Verdana"/>
                <a:cs typeface="Verdana"/>
              </a:defRPr>
            </a:lvl1pPr>
          </a:lstStyle>
          <a:p>
            <a:fld id="{F78A162D-0241-4C68-AFBA-C35C1E515C23}" type="datetime1">
              <a:rPr lang="en-US" smtClean="0"/>
              <a:pPr/>
              <a:t>4/7/2020</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smtClean="0"/>
              <a:t>© 2015 The SAFE Alliance</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latin typeface="Verdana"/>
                <a:cs typeface="Verdana"/>
              </a:defRPr>
            </a:lvl1pPr>
          </a:lstStyle>
          <a:p>
            <a:fld id="{5A9C9452-EA36-4430-81EB-082BCA1DD5D4}"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652231" y="286117"/>
            <a:ext cx="1503449" cy="49599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www.safeaustin.org/chat"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txabusehotline.org/" TargetMode="External"/><Relationship Id="rId2" Type="http://schemas.openxmlformats.org/officeDocument/2006/relationships/hyperlink" Target="https://www.dfps.state.tx.us/Contact_Us/report_abuse.as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www.safeaustin.org/expectrespect" TargetMode="External"/><Relationship Id="rId3" Type="http://schemas.openxmlformats.org/officeDocument/2006/relationships/image" Target="../media/image6.jpg"/><Relationship Id="rId7"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jwi.org/tools/" TargetMode="External"/><Relationship Id="rId5" Type="http://schemas.openxmlformats.org/officeDocument/2006/relationships/image" Target="../media/image7.png"/><Relationship Id="rId4" Type="http://schemas.openxmlformats.org/officeDocument/2006/relationships/hyperlink" Target="https://www.youtube.com/watch?v=h3nhM9UlJjc"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hyperlink" Target="mailto:brosenbluth@safeaustin.org"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www.safeaustin.org/expectrespec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78559" y="837337"/>
            <a:ext cx="9979891" cy="3566160"/>
          </a:xfrm>
        </p:spPr>
        <p:txBody>
          <a:bodyPr>
            <a:normAutofit/>
          </a:bodyPr>
          <a:lstStyle/>
          <a:p>
            <a:r>
              <a:rPr lang="en-US" sz="6000" dirty="0" smtClean="0"/>
              <a:t>Personal Safety Issues  </a:t>
            </a:r>
            <a:br>
              <a:rPr lang="en-US" sz="6000" dirty="0" smtClean="0"/>
            </a:br>
            <a:r>
              <a:rPr lang="en-US" sz="6000" dirty="0" smtClean="0"/>
              <a:t>for Online Sex Ed</a:t>
            </a:r>
            <a:endParaRPr lang="en-US" sz="6000" dirty="0"/>
          </a:p>
        </p:txBody>
      </p:sp>
      <p:sp>
        <p:nvSpPr>
          <p:cNvPr id="3" name="Content Placeholder 2"/>
          <p:cNvSpPr>
            <a:spLocks noGrp="1"/>
          </p:cNvSpPr>
          <p:nvPr>
            <p:ph type="subTitle" idx="1"/>
          </p:nvPr>
        </p:nvSpPr>
        <p:spPr/>
        <p:txBody>
          <a:bodyPr>
            <a:normAutofit/>
          </a:bodyPr>
          <a:lstStyle/>
          <a:p>
            <a:r>
              <a:rPr lang="en-US" dirty="0" smtClean="0"/>
              <a:t>Barri Rosenbluth, Expect Respect Program, SAFE Alliance, Austin, Texas</a:t>
            </a:r>
          </a:p>
        </p:txBody>
      </p:sp>
      <p:sp>
        <p:nvSpPr>
          <p:cNvPr id="4" name="Footer Placeholder 3"/>
          <p:cNvSpPr>
            <a:spLocks noGrp="1"/>
          </p:cNvSpPr>
          <p:nvPr>
            <p:ph type="ftr" sz="quarter" idx="11"/>
          </p:nvPr>
        </p:nvSpPr>
        <p:spPr/>
        <p:txBody>
          <a:bodyPr/>
          <a:lstStyle/>
          <a:p>
            <a:r>
              <a:rPr lang="en-US" smtClean="0"/>
              <a:t>© 2015 The SAFE Alliance</a:t>
            </a:r>
            <a:endParaRPr lang="en-US" dirty="0"/>
          </a:p>
        </p:txBody>
      </p:sp>
      <p:sp>
        <p:nvSpPr>
          <p:cNvPr id="5" name="Slide Number Placeholder 4"/>
          <p:cNvSpPr>
            <a:spLocks noGrp="1"/>
          </p:cNvSpPr>
          <p:nvPr>
            <p:ph type="sldNum" sz="quarter" idx="12"/>
          </p:nvPr>
        </p:nvSpPr>
        <p:spPr/>
        <p:txBody>
          <a:bodyPr/>
          <a:lstStyle/>
          <a:p>
            <a:fld id="{6113E31D-E2AB-40D1-8B51-AFA5AFEF393A}" type="slidenum">
              <a:rPr lang="en-US" smtClean="0"/>
              <a:t>1</a:t>
            </a:fld>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8559" y="785214"/>
            <a:ext cx="3826630" cy="833274"/>
          </a:xfrm>
          <a:prstGeom prst="rect">
            <a:avLst/>
          </a:prstGeom>
        </p:spPr>
      </p:pic>
    </p:spTree>
    <p:extLst>
      <p:ext uri="{BB962C8B-B14F-4D97-AF65-F5344CB8AC3E}">
        <p14:creationId xmlns:p14="http://schemas.microsoft.com/office/powerpoint/2010/main" val="41225029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t>
            </a:r>
            <a:r>
              <a:rPr lang="en-US" dirty="0" smtClean="0"/>
              <a:t>oals</a:t>
            </a:r>
            <a:endParaRPr lang="en-US" dirty="0"/>
          </a:p>
        </p:txBody>
      </p:sp>
      <p:sp>
        <p:nvSpPr>
          <p:cNvPr id="3" name="Content Placeholder 2"/>
          <p:cNvSpPr>
            <a:spLocks noGrp="1"/>
          </p:cNvSpPr>
          <p:nvPr>
            <p:ph idx="1"/>
          </p:nvPr>
        </p:nvSpPr>
        <p:spPr>
          <a:xfrm>
            <a:off x="1068387" y="1737360"/>
            <a:ext cx="10058400" cy="4023360"/>
          </a:xfrm>
        </p:spPr>
        <p:txBody>
          <a:bodyPr>
            <a:normAutofit/>
          </a:bodyPr>
          <a:lstStyle/>
          <a:p>
            <a:pPr marL="457200" indent="-457200">
              <a:buAutoNum type="arabicPeriod"/>
            </a:pPr>
            <a:r>
              <a:rPr lang="en-US" sz="2800" dirty="0" smtClean="0"/>
              <a:t>Make it safer for students to share experiences with you and each other</a:t>
            </a:r>
          </a:p>
          <a:p>
            <a:pPr marL="457200" indent="-457200">
              <a:buAutoNum type="arabicPeriod"/>
            </a:pPr>
            <a:r>
              <a:rPr lang="en-US" sz="2800" dirty="0" smtClean="0"/>
              <a:t>Respond in ways that are supportive and protective and that build community</a:t>
            </a:r>
          </a:p>
          <a:p>
            <a:pPr marL="457200" indent="-457200">
              <a:buAutoNum type="arabicPeriod"/>
            </a:pPr>
            <a:r>
              <a:rPr lang="en-US" sz="2800" dirty="0" smtClean="0"/>
              <a:t>Promote healthy, consensual relationships</a:t>
            </a:r>
          </a:p>
        </p:txBody>
      </p:sp>
      <p:sp>
        <p:nvSpPr>
          <p:cNvPr id="4" name="Footer Placeholder 3"/>
          <p:cNvSpPr>
            <a:spLocks noGrp="1"/>
          </p:cNvSpPr>
          <p:nvPr>
            <p:ph type="ftr" sz="quarter" idx="11"/>
          </p:nvPr>
        </p:nvSpPr>
        <p:spPr/>
        <p:txBody>
          <a:bodyPr/>
          <a:lstStyle/>
          <a:p>
            <a:r>
              <a:rPr lang="en-US" smtClean="0"/>
              <a:t>© 2015 The SAFE Alliance</a:t>
            </a:r>
            <a:endParaRPr lang="en-US" dirty="0"/>
          </a:p>
        </p:txBody>
      </p:sp>
      <p:sp>
        <p:nvSpPr>
          <p:cNvPr id="5" name="Slide Number Placeholder 4"/>
          <p:cNvSpPr>
            <a:spLocks noGrp="1"/>
          </p:cNvSpPr>
          <p:nvPr>
            <p:ph type="sldNum" sz="quarter" idx="12"/>
          </p:nvPr>
        </p:nvSpPr>
        <p:spPr/>
        <p:txBody>
          <a:bodyPr/>
          <a:lstStyle/>
          <a:p>
            <a:fld id="{6113E31D-E2AB-40D1-8B51-AFA5AFEF393A}" type="slidenum">
              <a:rPr lang="en-US" smtClean="0"/>
              <a:t>2</a:t>
            </a:fld>
            <a:endParaRPr lang="en-US" dirty="0"/>
          </a:p>
        </p:txBody>
      </p:sp>
    </p:spTree>
    <p:extLst>
      <p:ext uri="{BB962C8B-B14F-4D97-AF65-F5344CB8AC3E}">
        <p14:creationId xmlns:p14="http://schemas.microsoft.com/office/powerpoint/2010/main" val="3294144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43584" y="314035"/>
            <a:ext cx="9912096" cy="1450757"/>
          </a:xfrm>
        </p:spPr>
        <p:txBody>
          <a:bodyPr>
            <a:normAutofit/>
          </a:bodyPr>
          <a:lstStyle/>
          <a:p>
            <a:r>
              <a:rPr lang="en-US" i="1" dirty="0" smtClean="0"/>
              <a:t>“Shelter” in Place </a:t>
            </a:r>
            <a:r>
              <a:rPr lang="en-US" dirty="0" smtClean="0"/>
              <a:t>	</a:t>
            </a:r>
            <a:endParaRPr lang="en-US" dirty="0"/>
          </a:p>
        </p:txBody>
      </p:sp>
      <p:sp>
        <p:nvSpPr>
          <p:cNvPr id="8" name="Text Placeholder 7"/>
          <p:cNvSpPr>
            <a:spLocks noGrp="1"/>
          </p:cNvSpPr>
          <p:nvPr>
            <p:ph idx="1"/>
          </p:nvPr>
        </p:nvSpPr>
        <p:spPr/>
        <p:txBody>
          <a:bodyPr>
            <a:normAutofit/>
          </a:bodyPr>
          <a:lstStyle/>
          <a:p>
            <a:pPr marL="0" indent="0">
              <a:buNone/>
            </a:pPr>
            <a:r>
              <a:rPr lang="en-US" sz="2800" dirty="0" smtClean="0"/>
              <a:t>What is the range of experiences young people may be having right now in their homes?</a:t>
            </a:r>
            <a:endParaRPr lang="en-US" sz="2800" dirty="0"/>
          </a:p>
          <a:p>
            <a:endParaRPr lang="en-US" dirty="0" smtClean="0"/>
          </a:p>
          <a:p>
            <a:r>
              <a:rPr lang="en-US" dirty="0" err="1" smtClean="0"/>
              <a:t>Best__________________________________________________Worst</a:t>
            </a:r>
            <a:endParaRPr lang="en-US" dirty="0"/>
          </a:p>
        </p:txBody>
      </p:sp>
      <p:sp>
        <p:nvSpPr>
          <p:cNvPr id="5" name="Footer Placeholder 4"/>
          <p:cNvSpPr>
            <a:spLocks noGrp="1"/>
          </p:cNvSpPr>
          <p:nvPr>
            <p:ph type="ftr" sz="quarter" idx="11"/>
          </p:nvPr>
        </p:nvSpPr>
        <p:spPr/>
        <p:txBody>
          <a:bodyPr/>
          <a:lstStyle/>
          <a:p>
            <a:r>
              <a:rPr lang="en-US" smtClean="0"/>
              <a:t>© 2015 The SAFE Alliance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3</a:t>
            </a:fld>
            <a:endParaRPr lang="en-US" dirty="0"/>
          </a:p>
        </p:txBody>
      </p:sp>
    </p:spTree>
    <p:extLst>
      <p:ext uri="{BB962C8B-B14F-4D97-AF65-F5344CB8AC3E}">
        <p14:creationId xmlns:p14="http://schemas.microsoft.com/office/powerpoint/2010/main" val="40699975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3343" y="209836"/>
            <a:ext cx="10176877" cy="1450757"/>
          </a:xfrm>
        </p:spPr>
        <p:txBody>
          <a:bodyPr>
            <a:normAutofit/>
          </a:bodyPr>
          <a:lstStyle/>
          <a:p>
            <a:r>
              <a:rPr lang="en-US" sz="4400" dirty="0" smtClean="0">
                <a:solidFill>
                  <a:schemeClr val="tx1"/>
                </a:solidFill>
              </a:rPr>
              <a:t>Children’s Exposure to Violence</a:t>
            </a:r>
            <a:endParaRPr lang="en-US" sz="4400" dirty="0">
              <a:solidFill>
                <a:schemeClr val="tx1"/>
              </a:solidFill>
            </a:endParaRPr>
          </a:p>
        </p:txBody>
      </p:sp>
      <p:sp>
        <p:nvSpPr>
          <p:cNvPr id="3" name="Content Placeholder 2"/>
          <p:cNvSpPr>
            <a:spLocks noGrp="1"/>
          </p:cNvSpPr>
          <p:nvPr>
            <p:ph sz="quarter" idx="1"/>
          </p:nvPr>
        </p:nvSpPr>
        <p:spPr>
          <a:xfrm>
            <a:off x="1160060" y="1981201"/>
            <a:ext cx="9990160" cy="4197927"/>
          </a:xfrm>
        </p:spPr>
        <p:txBody>
          <a:bodyPr>
            <a:noAutofit/>
          </a:bodyPr>
          <a:lstStyle/>
          <a:p>
            <a:pPr lvl="1">
              <a:buFont typeface="Arial" panose="020B0604020202020204" pitchFamily="34" charset="0"/>
              <a:buChar char="•"/>
            </a:pPr>
            <a:r>
              <a:rPr lang="en-US" dirty="0">
                <a:solidFill>
                  <a:schemeClr val="tx1"/>
                </a:solidFill>
                <a:latin typeface="Verdana" panose="020B0604030504040204" pitchFamily="34" charset="0"/>
              </a:rPr>
              <a:t>41% </a:t>
            </a:r>
            <a:r>
              <a:rPr lang="en-US" dirty="0" smtClean="0">
                <a:solidFill>
                  <a:schemeClr val="tx1"/>
                </a:solidFill>
                <a:latin typeface="Verdana" panose="020B0604030504040204" pitchFamily="34" charset="0"/>
              </a:rPr>
              <a:t>were physically </a:t>
            </a:r>
            <a:r>
              <a:rPr lang="en-US" dirty="0">
                <a:solidFill>
                  <a:schemeClr val="tx1"/>
                </a:solidFill>
                <a:latin typeface="Verdana" panose="020B0604030504040204" pitchFamily="34" charset="0"/>
              </a:rPr>
              <a:t>assaulted </a:t>
            </a:r>
            <a:r>
              <a:rPr lang="en-US" dirty="0">
                <a:solidFill>
                  <a:srgbClr val="FF0000"/>
                </a:solidFill>
                <a:latin typeface="Verdana" panose="020B0604030504040204" pitchFamily="34" charset="0"/>
              </a:rPr>
              <a:t>in the last year</a:t>
            </a:r>
          </a:p>
          <a:p>
            <a:pPr lvl="1">
              <a:buFont typeface="Arial" panose="020B0604020202020204" pitchFamily="34" charset="0"/>
              <a:buChar char="•"/>
            </a:pPr>
            <a:r>
              <a:rPr lang="en-US" dirty="0">
                <a:solidFill>
                  <a:schemeClr val="tx1"/>
                </a:solidFill>
                <a:latin typeface="Verdana" panose="020B0604030504040204" pitchFamily="34" charset="0"/>
              </a:rPr>
              <a:t>13% </a:t>
            </a:r>
            <a:r>
              <a:rPr lang="en-US" dirty="0" smtClean="0">
                <a:solidFill>
                  <a:schemeClr val="tx1"/>
                </a:solidFill>
                <a:latin typeface="Verdana" panose="020B0604030504040204" pitchFamily="34" charset="0"/>
              </a:rPr>
              <a:t>were harmed </a:t>
            </a:r>
            <a:r>
              <a:rPr lang="en-US" dirty="0">
                <a:solidFill>
                  <a:schemeClr val="tx1"/>
                </a:solidFill>
                <a:latin typeface="Verdana" panose="020B0604030504040204" pitchFamily="34" charset="0"/>
              </a:rPr>
              <a:t>by a parent or caregiver </a:t>
            </a:r>
          </a:p>
          <a:p>
            <a:pPr lvl="1">
              <a:buFont typeface="Arial" panose="020B0604020202020204" pitchFamily="34" charset="0"/>
              <a:buChar char="•"/>
            </a:pPr>
            <a:r>
              <a:rPr lang="en-US" dirty="0">
                <a:solidFill>
                  <a:schemeClr val="tx1"/>
                </a:solidFill>
                <a:latin typeface="Verdana" panose="020B0604030504040204" pitchFamily="34" charset="0"/>
              </a:rPr>
              <a:t>22% witnessed family and community violence</a:t>
            </a:r>
          </a:p>
          <a:p>
            <a:pPr lvl="1">
              <a:buFont typeface="Arial" panose="020B0604020202020204" pitchFamily="34" charset="0"/>
              <a:buChar char="•"/>
            </a:pPr>
            <a:r>
              <a:rPr lang="en-US" dirty="0">
                <a:solidFill>
                  <a:schemeClr val="tx1"/>
                </a:solidFill>
                <a:latin typeface="Verdana" panose="020B0604030504040204" pitchFamily="34" charset="0"/>
              </a:rPr>
              <a:t>10% of girls 14-17 experienced sexual assault or abuse</a:t>
            </a:r>
          </a:p>
          <a:p>
            <a:pPr lvl="1">
              <a:buFont typeface="Arial" panose="020B0604020202020204" pitchFamily="34" charset="0"/>
              <a:buChar char="•"/>
            </a:pPr>
            <a:r>
              <a:rPr lang="en-US" dirty="0">
                <a:solidFill>
                  <a:schemeClr val="tx1"/>
                </a:solidFill>
                <a:latin typeface="Verdana" panose="020B0604030504040204" pitchFamily="34" charset="0"/>
              </a:rPr>
              <a:t>More than 13% </a:t>
            </a:r>
            <a:r>
              <a:rPr lang="en-US" dirty="0" smtClean="0">
                <a:solidFill>
                  <a:schemeClr val="tx1"/>
                </a:solidFill>
                <a:latin typeface="Verdana" panose="020B0604030504040204" pitchFamily="34" charset="0"/>
              </a:rPr>
              <a:t>were physically </a:t>
            </a:r>
            <a:r>
              <a:rPr lang="en-US" dirty="0">
                <a:solidFill>
                  <a:schemeClr val="tx1"/>
                </a:solidFill>
                <a:latin typeface="Verdana" panose="020B0604030504040204" pitchFamily="34" charset="0"/>
              </a:rPr>
              <a:t>bullied, 30</a:t>
            </a:r>
            <a:r>
              <a:rPr lang="en-US" dirty="0" smtClean="0">
                <a:solidFill>
                  <a:schemeClr val="tx1"/>
                </a:solidFill>
                <a:latin typeface="Verdana" panose="020B0604030504040204" pitchFamily="34" charset="0"/>
              </a:rPr>
              <a:t>% </a:t>
            </a:r>
            <a:r>
              <a:rPr lang="en-US" dirty="0">
                <a:solidFill>
                  <a:schemeClr val="tx1"/>
                </a:solidFill>
                <a:latin typeface="Verdana" panose="020B0604030504040204" pitchFamily="34" charset="0"/>
              </a:rPr>
              <a:t>emotionally </a:t>
            </a:r>
            <a:r>
              <a:rPr lang="en-US" dirty="0" smtClean="0">
                <a:solidFill>
                  <a:schemeClr val="tx1"/>
                </a:solidFill>
                <a:latin typeface="Verdana" panose="020B0604030504040204" pitchFamily="34" charset="0"/>
              </a:rPr>
              <a:t>bullied</a:t>
            </a:r>
          </a:p>
          <a:p>
            <a:pPr marL="201168" lvl="1" indent="0">
              <a:buNone/>
            </a:pPr>
            <a:endParaRPr lang="en-US" dirty="0">
              <a:solidFill>
                <a:schemeClr val="tx1"/>
              </a:solidFill>
              <a:latin typeface="Verdana" panose="020B0604030504040204" pitchFamily="34" charset="0"/>
            </a:endParaRPr>
          </a:p>
          <a:p>
            <a:pPr lvl="1">
              <a:buFont typeface="Arial" panose="020B0604020202020204" pitchFamily="34" charset="0"/>
              <a:buChar char="•"/>
            </a:pPr>
            <a:r>
              <a:rPr lang="en-US" dirty="0">
                <a:solidFill>
                  <a:srgbClr val="FF0000"/>
                </a:solidFill>
                <a:latin typeface="Verdana" panose="020B0604030504040204" pitchFamily="34" charset="0"/>
              </a:rPr>
              <a:t>15% </a:t>
            </a:r>
            <a:r>
              <a:rPr lang="en-US" dirty="0" smtClean="0">
                <a:solidFill>
                  <a:srgbClr val="FF0000"/>
                </a:solidFill>
                <a:latin typeface="Verdana" panose="020B0604030504040204" pitchFamily="34" charset="0"/>
              </a:rPr>
              <a:t>six </a:t>
            </a:r>
            <a:r>
              <a:rPr lang="en-US" dirty="0">
                <a:solidFill>
                  <a:srgbClr val="FF0000"/>
                </a:solidFill>
                <a:latin typeface="Verdana" panose="020B0604030504040204" pitchFamily="34" charset="0"/>
              </a:rPr>
              <a:t>or more </a:t>
            </a:r>
            <a:r>
              <a:rPr lang="en-US" dirty="0" smtClean="0">
                <a:solidFill>
                  <a:srgbClr val="FF0000"/>
                </a:solidFill>
                <a:latin typeface="Verdana" panose="020B0604030504040204" pitchFamily="34" charset="0"/>
              </a:rPr>
              <a:t>incidents in the past year</a:t>
            </a:r>
            <a:endParaRPr lang="en-US" dirty="0">
              <a:solidFill>
                <a:srgbClr val="FF0000"/>
              </a:solidFill>
              <a:latin typeface="Verdana" panose="020B0604030504040204" pitchFamily="34" charset="0"/>
            </a:endParaRPr>
          </a:p>
          <a:p>
            <a:pPr lvl="1">
              <a:buFont typeface="Arial" panose="020B0604020202020204" pitchFamily="34" charset="0"/>
              <a:buChar char="•"/>
            </a:pPr>
            <a:r>
              <a:rPr lang="en-US" dirty="0">
                <a:solidFill>
                  <a:srgbClr val="FF0000"/>
                </a:solidFill>
                <a:latin typeface="Verdana" panose="020B0604030504040204" pitchFamily="34" charset="0"/>
              </a:rPr>
              <a:t>5% </a:t>
            </a:r>
            <a:r>
              <a:rPr lang="en-US" dirty="0" smtClean="0">
                <a:solidFill>
                  <a:srgbClr val="FF0000"/>
                </a:solidFill>
                <a:latin typeface="Verdana" panose="020B0604030504040204" pitchFamily="34" charset="0"/>
              </a:rPr>
              <a:t>ten </a:t>
            </a:r>
            <a:r>
              <a:rPr lang="en-US" dirty="0">
                <a:solidFill>
                  <a:srgbClr val="FF0000"/>
                </a:solidFill>
                <a:latin typeface="Verdana" panose="020B0604030504040204" pitchFamily="34" charset="0"/>
              </a:rPr>
              <a:t>or more </a:t>
            </a:r>
            <a:r>
              <a:rPr lang="en-US" dirty="0" smtClean="0">
                <a:solidFill>
                  <a:srgbClr val="FF0000"/>
                </a:solidFill>
                <a:latin typeface="Verdana" panose="020B0604030504040204" pitchFamily="34" charset="0"/>
              </a:rPr>
              <a:t>incidents in </a:t>
            </a:r>
            <a:r>
              <a:rPr lang="en-US" dirty="0">
                <a:solidFill>
                  <a:srgbClr val="FF0000"/>
                </a:solidFill>
                <a:latin typeface="Verdana" panose="020B0604030504040204" pitchFamily="34" charset="0"/>
              </a:rPr>
              <a:t>the past year</a:t>
            </a:r>
          </a:p>
          <a:p>
            <a:pPr marL="257175" lvl="1" indent="0">
              <a:buNone/>
            </a:pPr>
            <a:endParaRPr lang="en-US" dirty="0" smtClean="0">
              <a:solidFill>
                <a:schemeClr val="tx1"/>
              </a:solidFill>
              <a:latin typeface="Verdana" panose="020B0604030504040204" pitchFamily="34" charset="0"/>
            </a:endParaRPr>
          </a:p>
          <a:p>
            <a:pPr marL="257175" lvl="1" indent="0">
              <a:buNone/>
            </a:pPr>
            <a:r>
              <a:rPr lang="en-US" dirty="0" smtClean="0">
                <a:solidFill>
                  <a:schemeClr val="tx1"/>
                </a:solidFill>
              </a:rPr>
              <a:t>National </a:t>
            </a:r>
            <a:r>
              <a:rPr lang="en-US" dirty="0">
                <a:solidFill>
                  <a:schemeClr val="tx1"/>
                </a:solidFill>
              </a:rPr>
              <a:t>Survey on Children’s </a:t>
            </a:r>
            <a:r>
              <a:rPr lang="en-US" dirty="0" smtClean="0">
                <a:solidFill>
                  <a:schemeClr val="tx1"/>
                </a:solidFill>
              </a:rPr>
              <a:t>Exposure </a:t>
            </a:r>
            <a:r>
              <a:rPr lang="en-US" dirty="0">
                <a:solidFill>
                  <a:schemeClr val="tx1"/>
                </a:solidFill>
              </a:rPr>
              <a:t>to </a:t>
            </a:r>
            <a:r>
              <a:rPr lang="en-US" dirty="0" smtClean="0">
                <a:solidFill>
                  <a:schemeClr val="tx1"/>
                </a:solidFill>
              </a:rPr>
              <a:t>Violence, </a:t>
            </a:r>
            <a:r>
              <a:rPr lang="en-US" dirty="0" err="1" smtClean="0">
                <a:solidFill>
                  <a:schemeClr val="tx1"/>
                </a:solidFill>
                <a:latin typeface="Verdana" panose="020B0604030504040204" pitchFamily="34" charset="0"/>
              </a:rPr>
              <a:t>Finkelhor</a:t>
            </a:r>
            <a:r>
              <a:rPr lang="en-US" dirty="0" smtClean="0">
                <a:solidFill>
                  <a:schemeClr val="tx1"/>
                </a:solidFill>
                <a:latin typeface="Verdana" panose="020B0604030504040204" pitchFamily="34" charset="0"/>
              </a:rPr>
              <a:t> </a:t>
            </a:r>
            <a:r>
              <a:rPr lang="en-US" dirty="0">
                <a:solidFill>
                  <a:schemeClr val="tx1"/>
                </a:solidFill>
                <a:latin typeface="Verdana" panose="020B0604030504040204" pitchFamily="34" charset="0"/>
              </a:rPr>
              <a:t>et al., 2013</a:t>
            </a:r>
            <a:r>
              <a:rPr lang="en-US" dirty="0" smtClean="0">
                <a:solidFill>
                  <a:schemeClr val="tx1"/>
                </a:solidFill>
                <a:latin typeface="Verdana" panose="020B0604030504040204" pitchFamily="34" charset="0"/>
              </a:rPr>
              <a:t>)</a:t>
            </a:r>
            <a:endParaRPr lang="en-US" dirty="0">
              <a:solidFill>
                <a:schemeClr val="tx1"/>
              </a:solidFill>
              <a:latin typeface="Verdana" panose="020B0604030504040204" pitchFamily="34" charset="0"/>
            </a:endParaRPr>
          </a:p>
          <a:p>
            <a:pPr lvl="1"/>
            <a:endParaRPr lang="en-US" dirty="0"/>
          </a:p>
          <a:p>
            <a:pPr lvl="1"/>
            <a:endParaRPr lang="en-US" dirty="0"/>
          </a:p>
          <a:p>
            <a:pPr lvl="1"/>
            <a:endParaRPr lang="en-US" dirty="0"/>
          </a:p>
        </p:txBody>
      </p:sp>
    </p:spTree>
    <p:extLst>
      <p:ext uri="{BB962C8B-B14F-4D97-AF65-F5344CB8AC3E}">
        <p14:creationId xmlns:p14="http://schemas.microsoft.com/office/powerpoint/2010/main" val="14899013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33271" y="1185816"/>
            <a:ext cx="9166261" cy="423474"/>
          </a:xfrm>
        </p:spPr>
        <p:txBody>
          <a:bodyPr>
            <a:noAutofit/>
          </a:bodyPr>
          <a:lstStyle/>
          <a:p>
            <a:r>
              <a:rPr lang="en-US" sz="4400" dirty="0" smtClean="0">
                <a:solidFill>
                  <a:schemeClr val="tx1"/>
                </a:solidFill>
              </a:rPr>
              <a:t/>
            </a:r>
            <a:br>
              <a:rPr lang="en-US" sz="4400" dirty="0" smtClean="0">
                <a:solidFill>
                  <a:schemeClr val="tx1"/>
                </a:solidFill>
              </a:rPr>
            </a:br>
            <a:r>
              <a:rPr lang="en-US" sz="4400" dirty="0" smtClean="0">
                <a:solidFill>
                  <a:schemeClr val="tx1"/>
                </a:solidFill>
              </a:rPr>
              <a:t>Domestic Violence: </a:t>
            </a:r>
            <a:br>
              <a:rPr lang="en-US" sz="4400" dirty="0" smtClean="0">
                <a:solidFill>
                  <a:schemeClr val="tx1"/>
                </a:solidFill>
              </a:rPr>
            </a:br>
            <a:r>
              <a:rPr lang="en-US" sz="4400" dirty="0" smtClean="0">
                <a:solidFill>
                  <a:schemeClr val="tx1"/>
                </a:solidFill>
              </a:rPr>
              <a:t>How Children are Involved </a:t>
            </a:r>
            <a:endParaRPr lang="en-US" sz="4400" dirty="0">
              <a:solidFill>
                <a:schemeClr val="tx1"/>
              </a:solidFill>
            </a:endParaRPr>
          </a:p>
        </p:txBody>
      </p:sp>
      <p:sp>
        <p:nvSpPr>
          <p:cNvPr id="4" name="Rectangle 3"/>
          <p:cNvSpPr/>
          <p:nvPr/>
        </p:nvSpPr>
        <p:spPr>
          <a:xfrm>
            <a:off x="1033271" y="1773882"/>
            <a:ext cx="10771633" cy="3970318"/>
          </a:xfrm>
          <a:prstGeom prst="rect">
            <a:avLst/>
          </a:prstGeom>
        </p:spPr>
        <p:txBody>
          <a:bodyPr wrap="square">
            <a:spAutoFit/>
          </a:bodyPr>
          <a:lstStyle/>
          <a:p>
            <a:pPr marL="457200" indent="-457200">
              <a:buFont typeface="Arial" panose="020B0604020202020204" pitchFamily="34" charset="0"/>
              <a:buChar char="•"/>
            </a:pPr>
            <a:r>
              <a:rPr lang="en-US" sz="2800" dirty="0">
                <a:solidFill>
                  <a:srgbClr val="000000"/>
                </a:solidFill>
                <a:latin typeface="+mj-lt"/>
              </a:rPr>
              <a:t>Seeing, hearing and being physically hurt or </a:t>
            </a:r>
            <a:r>
              <a:rPr lang="en-US" sz="2800" dirty="0" smtClean="0">
                <a:solidFill>
                  <a:srgbClr val="000000"/>
                </a:solidFill>
                <a:latin typeface="+mj-lt"/>
              </a:rPr>
              <a:t>threatened </a:t>
            </a:r>
            <a:endParaRPr lang="en-US" sz="2800" dirty="0">
              <a:solidFill>
                <a:srgbClr val="000000"/>
              </a:solidFill>
              <a:latin typeface="+mj-lt"/>
            </a:endParaRPr>
          </a:p>
          <a:p>
            <a:pPr marL="457200" indent="-457200">
              <a:buFont typeface="Arial" panose="020B0604020202020204" pitchFamily="34" charset="0"/>
              <a:buChar char="•"/>
            </a:pPr>
            <a:r>
              <a:rPr lang="en-US" altLang="en-US" sz="2800" dirty="0">
                <a:latin typeface="+mj-lt"/>
              </a:rPr>
              <a:t>Being used by the abusive person in the act of </a:t>
            </a:r>
            <a:r>
              <a:rPr lang="en-US" altLang="en-US" sz="2800" dirty="0" smtClean="0">
                <a:latin typeface="+mj-lt"/>
              </a:rPr>
              <a:t>violence</a:t>
            </a:r>
          </a:p>
          <a:p>
            <a:pPr marL="457200" indent="-457200">
              <a:buFont typeface="Arial" panose="020B0604020202020204" pitchFamily="34" charset="0"/>
              <a:buChar char="•"/>
            </a:pPr>
            <a:r>
              <a:rPr lang="en-US" altLang="en-US" sz="2800" dirty="0" smtClean="0">
                <a:latin typeface="+mj-lt"/>
              </a:rPr>
              <a:t>Living </a:t>
            </a:r>
            <a:r>
              <a:rPr lang="en-US" altLang="en-US" sz="2800" dirty="0">
                <a:latin typeface="+mj-lt"/>
              </a:rPr>
              <a:t>in constant </a:t>
            </a:r>
            <a:r>
              <a:rPr lang="en-US" altLang="en-US" sz="2800" dirty="0" smtClean="0">
                <a:latin typeface="+mj-lt"/>
              </a:rPr>
              <a:t>fear</a:t>
            </a:r>
          </a:p>
          <a:p>
            <a:pPr marL="457200" indent="-457200">
              <a:buFont typeface="Arial" panose="020B0604020202020204" pitchFamily="34" charset="0"/>
              <a:buChar char="•"/>
            </a:pPr>
            <a:r>
              <a:rPr lang="en-US" altLang="en-US" sz="2800" dirty="0" smtClean="0">
                <a:latin typeface="+mj-lt"/>
              </a:rPr>
              <a:t>Seeing parent </a:t>
            </a:r>
            <a:r>
              <a:rPr lang="en-US" altLang="en-US" sz="2800" dirty="0">
                <a:latin typeface="+mj-lt"/>
              </a:rPr>
              <a:t>injured/needed to get </a:t>
            </a:r>
            <a:r>
              <a:rPr lang="en-US" altLang="en-US" sz="2800" dirty="0" smtClean="0">
                <a:latin typeface="+mj-lt"/>
              </a:rPr>
              <a:t>help</a:t>
            </a:r>
            <a:endParaRPr lang="en-US" altLang="en-US" sz="2800" dirty="0">
              <a:latin typeface="+mj-lt"/>
            </a:endParaRPr>
          </a:p>
          <a:p>
            <a:pPr marL="457200" indent="-457200">
              <a:buFont typeface="Arial" panose="020B0604020202020204" pitchFamily="34" charset="0"/>
              <a:buChar char="•"/>
            </a:pPr>
            <a:r>
              <a:rPr lang="en-US" altLang="en-US" sz="2800" dirty="0">
                <a:latin typeface="+mj-lt"/>
              </a:rPr>
              <a:t>Seeing police intervene/remove abusive </a:t>
            </a:r>
            <a:r>
              <a:rPr lang="en-US" altLang="en-US" sz="2800" dirty="0" smtClean="0">
                <a:latin typeface="+mj-lt"/>
              </a:rPr>
              <a:t>partner</a:t>
            </a:r>
            <a:endParaRPr lang="en-US" altLang="en-US" sz="2800" dirty="0">
              <a:latin typeface="+mj-lt"/>
            </a:endParaRPr>
          </a:p>
          <a:p>
            <a:pPr marL="457200" indent="-457200">
              <a:buFont typeface="Arial" panose="020B0604020202020204" pitchFamily="34" charset="0"/>
              <a:buChar char="•"/>
            </a:pPr>
            <a:r>
              <a:rPr lang="en-US" altLang="en-US" sz="2800" dirty="0">
                <a:latin typeface="+mj-lt"/>
              </a:rPr>
              <a:t>Needing to flee/move </a:t>
            </a:r>
            <a:r>
              <a:rPr lang="en-US" altLang="en-US" sz="2800" dirty="0" smtClean="0">
                <a:latin typeface="+mj-lt"/>
              </a:rPr>
              <a:t>constantly</a:t>
            </a:r>
            <a:endParaRPr lang="en-US" altLang="en-US" sz="2800" dirty="0">
              <a:latin typeface="+mj-lt"/>
            </a:endParaRPr>
          </a:p>
          <a:p>
            <a:pPr marL="457200" indent="-457200">
              <a:buFont typeface="Arial" panose="020B0604020202020204" pitchFamily="34" charset="0"/>
              <a:buChar char="•"/>
            </a:pPr>
            <a:r>
              <a:rPr lang="en-US" altLang="en-US" sz="2800" dirty="0">
                <a:latin typeface="+mj-lt"/>
              </a:rPr>
              <a:t>Assuming </a:t>
            </a:r>
            <a:r>
              <a:rPr lang="en-US" altLang="en-US" sz="2800" dirty="0" smtClean="0">
                <a:latin typeface="+mj-lt"/>
              </a:rPr>
              <a:t>protective </a:t>
            </a:r>
            <a:r>
              <a:rPr lang="en-US" altLang="en-US" sz="2800" dirty="0">
                <a:latin typeface="+mj-lt"/>
              </a:rPr>
              <a:t>role in the </a:t>
            </a:r>
            <a:r>
              <a:rPr lang="en-US" altLang="en-US" sz="2800" dirty="0" smtClean="0">
                <a:latin typeface="+mj-lt"/>
              </a:rPr>
              <a:t>family</a:t>
            </a:r>
            <a:endParaRPr lang="en-US" altLang="en-US" sz="2800" dirty="0">
              <a:latin typeface="+mj-lt"/>
            </a:endParaRPr>
          </a:p>
          <a:p>
            <a:pPr marL="457200" indent="-457200">
              <a:buFont typeface="Arial" panose="020B0604020202020204" pitchFamily="34" charset="0"/>
              <a:buChar char="•"/>
            </a:pPr>
            <a:r>
              <a:rPr lang="en-US" altLang="en-US" sz="2800" dirty="0">
                <a:solidFill>
                  <a:srgbClr val="FF0000"/>
                </a:solidFill>
                <a:latin typeface="+mj-lt"/>
              </a:rPr>
              <a:t>Not </a:t>
            </a:r>
            <a:r>
              <a:rPr lang="en-US" altLang="en-US" sz="2800" dirty="0" smtClean="0">
                <a:solidFill>
                  <a:srgbClr val="FF0000"/>
                </a:solidFill>
                <a:latin typeface="+mj-lt"/>
              </a:rPr>
              <a:t>feeling safe</a:t>
            </a:r>
            <a:r>
              <a:rPr lang="en-US" altLang="en-US" sz="2800" dirty="0">
                <a:solidFill>
                  <a:srgbClr val="FF0000"/>
                </a:solidFill>
                <a:latin typeface="+mj-lt"/>
              </a:rPr>
              <a:t>, </a:t>
            </a:r>
            <a:r>
              <a:rPr lang="en-US" altLang="en-US" sz="2800" dirty="0" smtClean="0">
                <a:solidFill>
                  <a:srgbClr val="FF0000"/>
                </a:solidFill>
                <a:latin typeface="+mj-lt"/>
              </a:rPr>
              <a:t>learning how to identify or express feelings, handle stress/conflict</a:t>
            </a:r>
            <a:endParaRPr lang="en-US" altLang="en-US" sz="2800" dirty="0">
              <a:solidFill>
                <a:srgbClr val="FF0000"/>
              </a:solidFill>
              <a:latin typeface="+mj-lt"/>
            </a:endParaRPr>
          </a:p>
        </p:txBody>
      </p:sp>
    </p:spTree>
    <p:extLst>
      <p:ext uri="{BB962C8B-B14F-4D97-AF65-F5344CB8AC3E}">
        <p14:creationId xmlns:p14="http://schemas.microsoft.com/office/powerpoint/2010/main" val="41818409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t>Corporal Punishment</a:t>
            </a:r>
            <a:endParaRPr lang="en-US" sz="4400" dirty="0"/>
          </a:p>
        </p:txBody>
      </p:sp>
      <p:sp>
        <p:nvSpPr>
          <p:cNvPr id="3" name="Content Placeholder 2"/>
          <p:cNvSpPr>
            <a:spLocks noGrp="1"/>
          </p:cNvSpPr>
          <p:nvPr>
            <p:ph idx="1"/>
          </p:nvPr>
        </p:nvSpPr>
        <p:spPr>
          <a:xfrm>
            <a:off x="1097280" y="1845733"/>
            <a:ext cx="10058400" cy="4387115"/>
          </a:xfrm>
        </p:spPr>
        <p:txBody>
          <a:bodyPr>
            <a:noAutofit/>
          </a:bodyPr>
          <a:lstStyle/>
          <a:p>
            <a:r>
              <a:rPr lang="en-US" sz="2400" dirty="0"/>
              <a:t>By the time they reach 5</a:t>
            </a:r>
            <a:r>
              <a:rPr lang="en-US" sz="2400" baseline="30000" dirty="0"/>
              <a:t>th</a:t>
            </a:r>
            <a:r>
              <a:rPr lang="en-US" sz="2400" dirty="0"/>
              <a:t> grade, 80% of American children report that they have been spanked by their parents </a:t>
            </a:r>
            <a:r>
              <a:rPr lang="en-US" sz="1800" dirty="0" smtClean="0"/>
              <a:t>(</a:t>
            </a:r>
            <a:r>
              <a:rPr lang="en-US" sz="1800" dirty="0"/>
              <a:t>Gershoff &amp; </a:t>
            </a:r>
            <a:r>
              <a:rPr lang="en-US" sz="1800" dirty="0" err="1"/>
              <a:t>Bitensky</a:t>
            </a:r>
            <a:r>
              <a:rPr lang="en-US" sz="1800" dirty="0"/>
              <a:t>, 2007; </a:t>
            </a:r>
            <a:r>
              <a:rPr lang="en-US" sz="1800" dirty="0" err="1"/>
              <a:t>Vittrup</a:t>
            </a:r>
            <a:r>
              <a:rPr lang="en-US" sz="1800" dirty="0"/>
              <a:t> &amp; Holden, 2010). </a:t>
            </a:r>
            <a:endParaRPr lang="en-US" sz="1800" dirty="0" smtClean="0"/>
          </a:p>
          <a:p>
            <a:r>
              <a:rPr lang="en-US" sz="2400" dirty="0" smtClean="0"/>
              <a:t>Linked to increased aggression</a:t>
            </a:r>
            <a:r>
              <a:rPr lang="en-US" sz="2400" dirty="0"/>
              <a:t>, mental health problems, difficult relationships with parents, lower self-esteem and lower academic performance </a:t>
            </a:r>
            <a:r>
              <a:rPr lang="en-US" sz="1800" dirty="0"/>
              <a:t>(Gershoff &amp; Grogan-Taylor, 2016). </a:t>
            </a:r>
            <a:endParaRPr lang="en-US" sz="1800" dirty="0" smtClean="0"/>
          </a:p>
          <a:p>
            <a:r>
              <a:rPr lang="en-US" sz="2400" dirty="0" smtClean="0"/>
              <a:t>The </a:t>
            </a:r>
            <a:r>
              <a:rPr lang="en-US" sz="2400" dirty="0"/>
              <a:t>majority of physical abuse cases start with corporal punishment. </a:t>
            </a:r>
          </a:p>
        </p:txBody>
      </p:sp>
      <p:sp>
        <p:nvSpPr>
          <p:cNvPr id="4" name="Footer Placeholder 3"/>
          <p:cNvSpPr>
            <a:spLocks noGrp="1"/>
          </p:cNvSpPr>
          <p:nvPr>
            <p:ph type="ftr" sz="quarter" idx="11"/>
          </p:nvPr>
        </p:nvSpPr>
        <p:spPr/>
        <p:txBody>
          <a:bodyPr/>
          <a:lstStyle/>
          <a:p>
            <a:r>
              <a:rPr lang="en-US" smtClean="0"/>
              <a:t>© 2015 The SAFE Alliance</a:t>
            </a:r>
            <a:endParaRPr lang="en-US" dirty="0"/>
          </a:p>
        </p:txBody>
      </p:sp>
      <p:sp>
        <p:nvSpPr>
          <p:cNvPr id="5" name="Slide Number Placeholder 4"/>
          <p:cNvSpPr>
            <a:spLocks noGrp="1"/>
          </p:cNvSpPr>
          <p:nvPr>
            <p:ph type="sldNum" sz="quarter" idx="12"/>
          </p:nvPr>
        </p:nvSpPr>
        <p:spPr/>
        <p:txBody>
          <a:bodyPr/>
          <a:lstStyle/>
          <a:p>
            <a:fld id="{6113E31D-E2AB-40D1-8B51-AFA5AFEF393A}" type="slidenum">
              <a:rPr lang="en-US" smtClean="0"/>
              <a:t>6</a:t>
            </a:fld>
            <a:endParaRPr lang="en-US" dirty="0"/>
          </a:p>
        </p:txBody>
      </p:sp>
    </p:spTree>
    <p:extLst>
      <p:ext uri="{BB962C8B-B14F-4D97-AF65-F5344CB8AC3E}">
        <p14:creationId xmlns:p14="http://schemas.microsoft.com/office/powerpoint/2010/main" val="20133544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0" name="Rectangle 2"/>
          <p:cNvSpPr>
            <a:spLocks noGrp="1" noRot="1" noChangeArrowheads="1"/>
          </p:cNvSpPr>
          <p:nvPr>
            <p:ph type="title"/>
          </p:nvPr>
        </p:nvSpPr>
        <p:spPr>
          <a:xfrm>
            <a:off x="1162972" y="734082"/>
            <a:ext cx="7821416" cy="1011437"/>
          </a:xfrm>
        </p:spPr>
        <p:txBody>
          <a:bodyPr>
            <a:noAutofit/>
          </a:bodyPr>
          <a:lstStyle/>
          <a:p>
            <a:pPr eaLnBrk="1" hangingPunct="1">
              <a:defRPr/>
            </a:pPr>
            <a:r>
              <a:rPr lang="en-US" sz="3000" dirty="0">
                <a:latin typeface="Verdana" panose="020B0604030504040204" pitchFamily="34" charset="0"/>
              </a:rPr>
              <a:t/>
            </a:r>
            <a:br>
              <a:rPr lang="en-US" sz="3000" dirty="0">
                <a:latin typeface="Verdana" panose="020B0604030504040204" pitchFamily="34" charset="0"/>
              </a:rPr>
            </a:br>
            <a:r>
              <a:rPr lang="en-US" sz="3000" dirty="0">
                <a:latin typeface="Verdana" panose="020B0604030504040204" pitchFamily="34" charset="0"/>
              </a:rPr>
              <a:t/>
            </a:r>
            <a:br>
              <a:rPr lang="en-US" sz="3000" dirty="0">
                <a:latin typeface="Verdana" panose="020B0604030504040204" pitchFamily="34" charset="0"/>
              </a:rPr>
            </a:br>
            <a:r>
              <a:rPr lang="en-US" sz="4400" dirty="0" smtClean="0"/>
              <a:t>Dating Abuse</a:t>
            </a:r>
            <a:endParaRPr lang="en-US" sz="4400" dirty="0"/>
          </a:p>
        </p:txBody>
      </p:sp>
      <p:sp>
        <p:nvSpPr>
          <p:cNvPr id="1010691" name="Rectangle 3"/>
          <p:cNvSpPr>
            <a:spLocks noGrp="1" noChangeArrowheads="1"/>
          </p:cNvSpPr>
          <p:nvPr>
            <p:ph sz="half" idx="1"/>
          </p:nvPr>
        </p:nvSpPr>
        <p:spPr>
          <a:xfrm>
            <a:off x="6205812" y="2088419"/>
            <a:ext cx="4202416" cy="3197985"/>
          </a:xfrm>
        </p:spPr>
        <p:txBody>
          <a:bodyPr>
            <a:noAutofit/>
          </a:bodyPr>
          <a:lstStyle/>
          <a:p>
            <a:pPr>
              <a:spcBef>
                <a:spcPct val="25000"/>
              </a:spcBef>
              <a:buFont typeface="Arial" panose="020B0604020202020204" pitchFamily="34" charset="0"/>
              <a:buChar char="•"/>
              <a:defRPr/>
            </a:pPr>
            <a:r>
              <a:rPr lang="en-US" sz="1800" dirty="0">
                <a:latin typeface="Verdana" panose="020B0604030504040204" pitchFamily="34" charset="0"/>
              </a:rPr>
              <a:t>Insults, name-calling, put downs</a:t>
            </a:r>
          </a:p>
          <a:p>
            <a:pPr>
              <a:spcBef>
                <a:spcPct val="25000"/>
              </a:spcBef>
              <a:buFont typeface="Arial" panose="020B0604020202020204" pitchFamily="34" charset="0"/>
              <a:buChar char="•"/>
              <a:defRPr/>
            </a:pPr>
            <a:r>
              <a:rPr lang="en-US" sz="1800" dirty="0">
                <a:latin typeface="Verdana" panose="020B0604030504040204" pitchFamily="34" charset="0"/>
              </a:rPr>
              <a:t>Jealous and controlling behavior</a:t>
            </a:r>
          </a:p>
          <a:p>
            <a:pPr>
              <a:spcBef>
                <a:spcPct val="25000"/>
              </a:spcBef>
              <a:buFont typeface="Arial" panose="020B0604020202020204" pitchFamily="34" charset="0"/>
              <a:buChar char="•"/>
              <a:defRPr/>
            </a:pPr>
            <a:r>
              <a:rPr lang="en-US" sz="1800" dirty="0">
                <a:solidFill>
                  <a:srgbClr val="FF0000"/>
                </a:solidFill>
                <a:latin typeface="Verdana" panose="020B0604030504040204" pitchFamily="34" charset="0"/>
              </a:rPr>
              <a:t>Using technology to harass or intimidate</a:t>
            </a:r>
          </a:p>
          <a:p>
            <a:pPr>
              <a:spcBef>
                <a:spcPct val="25000"/>
              </a:spcBef>
              <a:buFont typeface="Arial" panose="020B0604020202020204" pitchFamily="34" charset="0"/>
              <a:buChar char="•"/>
              <a:defRPr/>
            </a:pPr>
            <a:r>
              <a:rPr lang="en-US" sz="1800" dirty="0">
                <a:latin typeface="Verdana" panose="020B0604030504040204" pitchFamily="34" charset="0"/>
              </a:rPr>
              <a:t>Isolation from friends/family</a:t>
            </a:r>
          </a:p>
          <a:p>
            <a:pPr>
              <a:spcBef>
                <a:spcPct val="25000"/>
              </a:spcBef>
              <a:buFont typeface="Arial" panose="020B0604020202020204" pitchFamily="34" charset="0"/>
              <a:buChar char="•"/>
              <a:defRPr/>
            </a:pPr>
            <a:r>
              <a:rPr lang="en-US" sz="1800" dirty="0">
                <a:latin typeface="Verdana" panose="020B0604030504040204" pitchFamily="34" charset="0"/>
              </a:rPr>
              <a:t>Threats to hurt self or others</a:t>
            </a:r>
          </a:p>
          <a:p>
            <a:pPr>
              <a:spcBef>
                <a:spcPct val="25000"/>
              </a:spcBef>
              <a:buFont typeface="Arial" panose="020B0604020202020204" pitchFamily="34" charset="0"/>
              <a:buChar char="•"/>
              <a:defRPr/>
            </a:pPr>
            <a:r>
              <a:rPr lang="en-US" sz="1800" dirty="0">
                <a:latin typeface="Verdana" panose="020B0604030504040204" pitchFamily="34" charset="0"/>
              </a:rPr>
              <a:t>Hitting, choking, kicking, restraining</a:t>
            </a:r>
          </a:p>
          <a:p>
            <a:pPr>
              <a:spcBef>
                <a:spcPct val="25000"/>
              </a:spcBef>
              <a:buFont typeface="Arial" panose="020B0604020202020204" pitchFamily="34" charset="0"/>
              <a:buChar char="•"/>
              <a:defRPr/>
            </a:pPr>
            <a:r>
              <a:rPr lang="en-US" sz="1800" dirty="0">
                <a:latin typeface="Verdana" panose="020B0604030504040204" pitchFamily="34" charset="0"/>
              </a:rPr>
              <a:t>Forced/coerced sexual activity</a:t>
            </a:r>
          </a:p>
          <a:p>
            <a:pPr>
              <a:spcBef>
                <a:spcPct val="25000"/>
              </a:spcBef>
              <a:buFont typeface="Arial" panose="020B0604020202020204" pitchFamily="34" charset="0"/>
              <a:buChar char="•"/>
              <a:defRPr/>
            </a:pPr>
            <a:r>
              <a:rPr lang="en-US" sz="1800" dirty="0">
                <a:latin typeface="Verdana" panose="020B0604030504040204" pitchFamily="34" charset="0"/>
              </a:rPr>
              <a:t>Interfering with birth control</a:t>
            </a:r>
          </a:p>
          <a:p>
            <a:pPr>
              <a:spcBef>
                <a:spcPct val="25000"/>
              </a:spcBef>
              <a:buFont typeface="Arial" panose="020B0604020202020204" pitchFamily="34" charset="0"/>
              <a:buChar char="•"/>
              <a:defRPr/>
            </a:pPr>
            <a:r>
              <a:rPr lang="en-US" altLang="en-US" sz="1800" dirty="0">
                <a:latin typeface="Verdana" panose="020B0604030504040204" pitchFamily="34" charset="0"/>
              </a:rPr>
              <a:t>Using children and visitation to hurt or control partner</a:t>
            </a:r>
          </a:p>
          <a:p>
            <a:pPr marL="171450" indent="-171450">
              <a:spcBef>
                <a:spcPct val="25000"/>
              </a:spcBef>
              <a:defRPr/>
            </a:pPr>
            <a:endParaRPr lang="en-US" dirty="0">
              <a:latin typeface="Verdana" panose="020B0604030504040204" pitchFamily="34" charset="0"/>
            </a:endParaRPr>
          </a:p>
        </p:txBody>
      </p:sp>
      <p:pic>
        <p:nvPicPr>
          <p:cNvPr id="5" name="Picture 4" descr="ER support Fig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2972" y="2359152"/>
            <a:ext cx="4806493" cy="3366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70054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 Safe Online Space </a:t>
            </a:r>
            <a:endParaRPr lang="en-US" dirty="0"/>
          </a:p>
        </p:txBody>
      </p:sp>
      <p:sp>
        <p:nvSpPr>
          <p:cNvPr id="3" name="Content Placeholder 2"/>
          <p:cNvSpPr>
            <a:spLocks noGrp="1"/>
          </p:cNvSpPr>
          <p:nvPr>
            <p:ph idx="1"/>
          </p:nvPr>
        </p:nvSpPr>
        <p:spPr/>
        <p:txBody>
          <a:bodyPr>
            <a:normAutofit/>
          </a:bodyPr>
          <a:lstStyle/>
          <a:p>
            <a:pPr marL="457200" indent="-457200">
              <a:buAutoNum type="arabicPeriod"/>
            </a:pPr>
            <a:r>
              <a:rPr lang="en-US" dirty="0" smtClean="0"/>
              <a:t>Acknowledge that </a:t>
            </a:r>
            <a:r>
              <a:rPr lang="en-US" dirty="0"/>
              <a:t>many young </a:t>
            </a:r>
            <a:r>
              <a:rPr lang="en-US" dirty="0" smtClean="0"/>
              <a:t>people have experienced abuse in their homes and in their relationships. Invite students to </a:t>
            </a:r>
            <a:r>
              <a:rPr lang="en-US" dirty="0"/>
              <a:t>reach out to </a:t>
            </a:r>
            <a:r>
              <a:rPr lang="en-US" dirty="0" smtClean="0"/>
              <a:t>you or others. Provide local help info to everyone. </a:t>
            </a:r>
          </a:p>
          <a:p>
            <a:pPr marL="0" indent="0">
              <a:buNone/>
            </a:pPr>
            <a:endParaRPr lang="en-US" dirty="0" smtClean="0"/>
          </a:p>
          <a:p>
            <a:pPr marL="0" indent="0">
              <a:buNone/>
            </a:pPr>
            <a:r>
              <a:rPr lang="en-US" dirty="0" smtClean="0"/>
              <a:t>In Austin area:</a:t>
            </a:r>
          </a:p>
          <a:p>
            <a:r>
              <a:rPr lang="en-US" dirty="0" smtClean="0"/>
              <a:t>24-hr </a:t>
            </a:r>
            <a:r>
              <a:rPr lang="en-US" dirty="0" err="1"/>
              <a:t>SAFEline</a:t>
            </a:r>
            <a:r>
              <a:rPr lang="en-US" dirty="0"/>
              <a:t> - Call: 512.267.SAFE (</a:t>
            </a:r>
            <a:r>
              <a:rPr lang="en-US" dirty="0" smtClean="0"/>
              <a:t>7233),Text</a:t>
            </a:r>
            <a:r>
              <a:rPr lang="en-US" dirty="0"/>
              <a:t>: 737.888.SAFE (</a:t>
            </a:r>
            <a:r>
              <a:rPr lang="en-US" dirty="0" smtClean="0"/>
              <a:t>7233) Chat</a:t>
            </a:r>
            <a:r>
              <a:rPr lang="en-US" dirty="0"/>
              <a:t>: </a:t>
            </a:r>
            <a:r>
              <a:rPr lang="en-US" u="sng" dirty="0">
                <a:hlinkClick r:id="rId2"/>
              </a:rPr>
              <a:t>safeaustin.org/chat</a:t>
            </a:r>
            <a:endParaRPr lang="en-US" dirty="0"/>
          </a:p>
          <a:p>
            <a:r>
              <a:rPr lang="en-US" dirty="0" smtClean="0"/>
              <a:t>For </a:t>
            </a:r>
            <a:r>
              <a:rPr lang="en-US" dirty="0"/>
              <a:t>Deaf, </a:t>
            </a:r>
            <a:r>
              <a:rPr lang="en-US" dirty="0" err="1"/>
              <a:t>DeafBlind</a:t>
            </a:r>
            <a:r>
              <a:rPr lang="en-US" dirty="0"/>
              <a:t>, </a:t>
            </a:r>
            <a:r>
              <a:rPr lang="en-US" dirty="0" err="1"/>
              <a:t>DeafDisabled</a:t>
            </a:r>
            <a:r>
              <a:rPr lang="en-US" dirty="0"/>
              <a:t>, Late-Deafened, and Hard of Hearing people, please use relay/VRS</a:t>
            </a:r>
            <a:r>
              <a:rPr lang="en-US" dirty="0" smtClean="0"/>
              <a:t>.</a:t>
            </a:r>
          </a:p>
          <a:p>
            <a:r>
              <a:rPr lang="en-US" dirty="0" smtClean="0"/>
              <a:t>911 for emergencies</a:t>
            </a:r>
            <a:endParaRPr lang="en-US" dirty="0"/>
          </a:p>
          <a:p>
            <a:pPr marL="457200" indent="-457200">
              <a:buAutoNum type="arabicPeriod"/>
            </a:pPr>
            <a:endParaRPr lang="en-US" dirty="0" smtClean="0"/>
          </a:p>
          <a:p>
            <a:pPr marL="0">
              <a:buNone/>
            </a:pPr>
            <a:endParaRPr lang="en-US" dirty="0" smtClean="0"/>
          </a:p>
          <a:p>
            <a:pPr marL="0" indent="0">
              <a:buNone/>
            </a:pPr>
            <a:endParaRPr lang="en-US" dirty="0" smtClean="0"/>
          </a:p>
          <a:p>
            <a:pPr marL="201168" lvl="1" indent="0">
              <a:buNone/>
            </a:pPr>
            <a:endParaRPr lang="en-US" dirty="0"/>
          </a:p>
        </p:txBody>
      </p:sp>
      <p:sp>
        <p:nvSpPr>
          <p:cNvPr id="4" name="Footer Placeholder 3"/>
          <p:cNvSpPr>
            <a:spLocks noGrp="1"/>
          </p:cNvSpPr>
          <p:nvPr>
            <p:ph type="ftr" sz="quarter" idx="11"/>
          </p:nvPr>
        </p:nvSpPr>
        <p:spPr/>
        <p:txBody>
          <a:bodyPr/>
          <a:lstStyle/>
          <a:p>
            <a:r>
              <a:rPr lang="en-US" smtClean="0"/>
              <a:t>© 2015 The SAFE Alliance</a:t>
            </a:r>
            <a:endParaRPr lang="en-US" dirty="0"/>
          </a:p>
        </p:txBody>
      </p:sp>
      <p:sp>
        <p:nvSpPr>
          <p:cNvPr id="5" name="Slide Number Placeholder 4"/>
          <p:cNvSpPr>
            <a:spLocks noGrp="1"/>
          </p:cNvSpPr>
          <p:nvPr>
            <p:ph type="sldNum" sz="quarter" idx="12"/>
          </p:nvPr>
        </p:nvSpPr>
        <p:spPr/>
        <p:txBody>
          <a:bodyPr/>
          <a:lstStyle/>
          <a:p>
            <a:fld id="{6113E31D-E2AB-40D1-8B51-AFA5AFEF393A}" type="slidenum">
              <a:rPr lang="en-US" smtClean="0"/>
              <a:t>8</a:t>
            </a:fld>
            <a:endParaRPr lang="en-US" dirty="0"/>
          </a:p>
        </p:txBody>
      </p:sp>
    </p:spTree>
    <p:extLst>
      <p:ext uri="{BB962C8B-B14F-4D97-AF65-F5344CB8AC3E}">
        <p14:creationId xmlns:p14="http://schemas.microsoft.com/office/powerpoint/2010/main" val="33704314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a:t>
            </a:r>
            <a:endParaRPr lang="en-US" dirty="0"/>
          </a:p>
        </p:txBody>
      </p:sp>
      <p:sp>
        <p:nvSpPr>
          <p:cNvPr id="4" name="Footer Placeholder 3"/>
          <p:cNvSpPr>
            <a:spLocks noGrp="1"/>
          </p:cNvSpPr>
          <p:nvPr>
            <p:ph type="ftr" sz="quarter" idx="11"/>
          </p:nvPr>
        </p:nvSpPr>
        <p:spPr/>
        <p:txBody>
          <a:bodyPr/>
          <a:lstStyle/>
          <a:p>
            <a:r>
              <a:rPr lang="en-US" smtClean="0"/>
              <a:t>© 2015 The SAFE Alliance</a:t>
            </a:r>
            <a:endParaRPr lang="en-US" dirty="0"/>
          </a:p>
        </p:txBody>
      </p:sp>
      <p:sp>
        <p:nvSpPr>
          <p:cNvPr id="5" name="Slide Number Placeholder 4"/>
          <p:cNvSpPr>
            <a:spLocks noGrp="1"/>
          </p:cNvSpPr>
          <p:nvPr>
            <p:ph type="sldNum" sz="quarter" idx="12"/>
          </p:nvPr>
        </p:nvSpPr>
        <p:spPr/>
        <p:txBody>
          <a:bodyPr/>
          <a:lstStyle/>
          <a:p>
            <a:fld id="{6113E31D-E2AB-40D1-8B51-AFA5AFEF393A}" type="slidenum">
              <a:rPr lang="en-US" smtClean="0"/>
              <a:t>9</a:t>
            </a:fld>
            <a:endParaRPr lang="en-US" dirty="0"/>
          </a:p>
        </p:txBody>
      </p:sp>
      <p:sp>
        <p:nvSpPr>
          <p:cNvPr id="6" name="Content Placeholder 7"/>
          <p:cNvSpPr>
            <a:spLocks noGrp="1"/>
          </p:cNvSpPr>
          <p:nvPr>
            <p:ph idx="1"/>
          </p:nvPr>
        </p:nvSpPr>
        <p:spPr/>
        <p:txBody>
          <a:bodyPr>
            <a:normAutofit/>
          </a:bodyPr>
          <a:lstStyle/>
          <a:p>
            <a:pPr marL="0" indent="0">
              <a:buNone/>
            </a:pPr>
            <a:r>
              <a:rPr lang="en-US" dirty="0" smtClean="0"/>
              <a:t>2. Clarify </a:t>
            </a:r>
            <a:r>
              <a:rPr lang="en-US" dirty="0"/>
              <a:t>limits to </a:t>
            </a:r>
            <a:r>
              <a:rPr lang="en-US" dirty="0" smtClean="0"/>
              <a:t>confidentiality at the start. “</a:t>
            </a:r>
            <a:r>
              <a:rPr lang="en-US" dirty="0"/>
              <a:t>If you tell me…I will need to contact authorities to help you stay </a:t>
            </a:r>
            <a:r>
              <a:rPr lang="en-US" dirty="0" smtClean="0"/>
              <a:t>safe. If I’m concerned about your safety, I will try to speak with you in private first so that so we can make a plan.”</a:t>
            </a:r>
          </a:p>
          <a:p>
            <a:pPr marL="0" indent="0">
              <a:buNone/>
            </a:pPr>
            <a:endParaRPr lang="en-US" dirty="0"/>
          </a:p>
          <a:p>
            <a:pPr marL="0" indent="0">
              <a:buNone/>
            </a:pPr>
            <a:r>
              <a:rPr lang="en-US" dirty="0" smtClean="0"/>
              <a:t>3</a:t>
            </a:r>
            <a:r>
              <a:rPr lang="en-US" dirty="0"/>
              <a:t>. </a:t>
            </a:r>
            <a:r>
              <a:rPr lang="en-US" dirty="0" smtClean="0"/>
              <a:t>Use “people first” language. Avoid labels like “victim” or “abuser.” Say, “Teens </a:t>
            </a:r>
            <a:r>
              <a:rPr lang="en-US" dirty="0"/>
              <a:t>who have experienced </a:t>
            </a:r>
            <a:r>
              <a:rPr lang="en-US" dirty="0" smtClean="0"/>
              <a:t>abuse…, People </a:t>
            </a:r>
            <a:r>
              <a:rPr lang="en-US" dirty="0"/>
              <a:t>who pressure or </a:t>
            </a:r>
            <a:r>
              <a:rPr lang="en-US" dirty="0" smtClean="0"/>
              <a:t>coerce…” </a:t>
            </a:r>
          </a:p>
          <a:p>
            <a:pPr marL="0" indent="0">
              <a:buNone/>
            </a:pPr>
            <a:endParaRPr lang="en-US" dirty="0"/>
          </a:p>
          <a:p>
            <a:pPr marL="0" indent="0">
              <a:buNone/>
            </a:pPr>
            <a:r>
              <a:rPr lang="en-US" dirty="0" smtClean="0"/>
              <a:t>5. Be mindful when talking about sex that many teens will have already had non-consensual sex and that </a:t>
            </a:r>
            <a:r>
              <a:rPr lang="en-US" dirty="0"/>
              <a:t>s</a:t>
            </a:r>
            <a:r>
              <a:rPr lang="en-US" dirty="0" smtClean="0"/>
              <a:t>aying “No</a:t>
            </a:r>
            <a:r>
              <a:rPr lang="en-US" dirty="0"/>
              <a:t>” is not always an option. </a:t>
            </a:r>
            <a:endParaRPr lang="en-US" dirty="0" smtClean="0"/>
          </a:p>
          <a:p>
            <a:pPr marL="0" indent="0">
              <a:buNone/>
            </a:pPr>
            <a:endParaRPr lang="en-US" dirty="0"/>
          </a:p>
        </p:txBody>
      </p:sp>
    </p:spTree>
    <p:extLst>
      <p:ext uri="{BB962C8B-B14F-4D97-AF65-F5344CB8AC3E}">
        <p14:creationId xmlns:p14="http://schemas.microsoft.com/office/powerpoint/2010/main" val="58251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Break-out Question</a:t>
            </a:r>
            <a:endParaRPr lang="en-US" dirty="0"/>
          </a:p>
        </p:txBody>
      </p:sp>
      <p:sp>
        <p:nvSpPr>
          <p:cNvPr id="3" name="Content Placeholder 2"/>
          <p:cNvSpPr>
            <a:spLocks noGrp="1"/>
          </p:cNvSpPr>
          <p:nvPr>
            <p:ph idx="1"/>
          </p:nvPr>
        </p:nvSpPr>
        <p:spPr/>
        <p:txBody>
          <a:bodyPr/>
          <a:lstStyle/>
          <a:p>
            <a:r>
              <a:rPr lang="en-US" dirty="0" smtClean="0"/>
              <a:t>How does being mindful that some students have experienced sexual abuse or non-consensual sex impact your approach to sex ed. What, if anything, might you do differently from this perspective</a:t>
            </a:r>
            <a:r>
              <a:rPr lang="en-US" dirty="0"/>
              <a:t>?</a:t>
            </a:r>
          </a:p>
        </p:txBody>
      </p:sp>
      <p:sp>
        <p:nvSpPr>
          <p:cNvPr id="4" name="Footer Placeholder 3"/>
          <p:cNvSpPr>
            <a:spLocks noGrp="1"/>
          </p:cNvSpPr>
          <p:nvPr>
            <p:ph type="ftr" sz="quarter" idx="11"/>
          </p:nvPr>
        </p:nvSpPr>
        <p:spPr/>
        <p:txBody>
          <a:bodyPr/>
          <a:lstStyle/>
          <a:p>
            <a:r>
              <a:rPr lang="en-US" smtClean="0"/>
              <a:t>© 2015 The SAFE Alliance</a:t>
            </a:r>
            <a:endParaRPr lang="en-US" dirty="0"/>
          </a:p>
        </p:txBody>
      </p:sp>
      <p:sp>
        <p:nvSpPr>
          <p:cNvPr id="5" name="Slide Number Placeholder 4"/>
          <p:cNvSpPr>
            <a:spLocks noGrp="1"/>
          </p:cNvSpPr>
          <p:nvPr>
            <p:ph type="sldNum" sz="quarter" idx="12"/>
          </p:nvPr>
        </p:nvSpPr>
        <p:spPr/>
        <p:txBody>
          <a:bodyPr/>
          <a:lstStyle/>
          <a:p>
            <a:fld id="{6113E31D-E2AB-40D1-8B51-AFA5AFEF393A}" type="slidenum">
              <a:rPr lang="en-US" smtClean="0"/>
              <a:t>10</a:t>
            </a:fld>
            <a:endParaRPr lang="en-US" dirty="0"/>
          </a:p>
        </p:txBody>
      </p:sp>
    </p:spTree>
    <p:extLst>
      <p:ext uri="{BB962C8B-B14F-4D97-AF65-F5344CB8AC3E}">
        <p14:creationId xmlns:p14="http://schemas.microsoft.com/office/powerpoint/2010/main" val="3614120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02221" y="560804"/>
            <a:ext cx="583324" cy="369332"/>
          </a:xfrm>
          <a:prstGeom prst="rect">
            <a:avLst/>
          </a:prstGeom>
          <a:solidFill>
            <a:schemeClr val="bg1"/>
          </a:solidFill>
        </p:spPr>
        <p:txBody>
          <a:bodyPr wrap="square" rtlCol="0">
            <a:spAutoFit/>
          </a:bodyPr>
          <a:lstStyle/>
          <a:p>
            <a:endParaRPr lang="en-US" dirty="0"/>
          </a:p>
        </p:txBody>
      </p:sp>
      <p:sp>
        <p:nvSpPr>
          <p:cNvPr id="4" name="Title 3"/>
          <p:cNvSpPr>
            <a:spLocks noGrp="1"/>
          </p:cNvSpPr>
          <p:nvPr>
            <p:ph type="title"/>
          </p:nvPr>
        </p:nvSpPr>
        <p:spPr/>
        <p:txBody>
          <a:bodyPr/>
          <a:lstStyle/>
          <a:p>
            <a:r>
              <a:rPr lang="en-US" dirty="0" smtClean="0"/>
              <a:t>Synchronous Disclosures</a:t>
            </a:r>
            <a:endParaRPr lang="en-US" dirty="0"/>
          </a:p>
        </p:txBody>
      </p:sp>
      <p:sp>
        <p:nvSpPr>
          <p:cNvPr id="6" name="Content Placeholder 5"/>
          <p:cNvSpPr>
            <a:spLocks noGrp="1"/>
          </p:cNvSpPr>
          <p:nvPr>
            <p:ph idx="1"/>
          </p:nvPr>
        </p:nvSpPr>
        <p:spPr/>
        <p:txBody>
          <a:bodyPr>
            <a:normAutofit/>
          </a:bodyPr>
          <a:lstStyle/>
          <a:p>
            <a:r>
              <a:rPr lang="en-US" dirty="0" smtClean="0"/>
              <a:t>Allow student to finish.</a:t>
            </a:r>
          </a:p>
          <a:p>
            <a:r>
              <a:rPr lang="en-US" dirty="0" smtClean="0"/>
              <a:t>Validate feelings and decision to disclose.</a:t>
            </a:r>
          </a:p>
          <a:p>
            <a:r>
              <a:rPr lang="en-US" dirty="0" smtClean="0"/>
              <a:t>Don’t ask questions about the incident.</a:t>
            </a:r>
          </a:p>
          <a:p>
            <a:r>
              <a:rPr lang="en-US" dirty="0" smtClean="0"/>
              <a:t>“Is there anything you need to hear right now from people in this class?”</a:t>
            </a:r>
          </a:p>
          <a:p>
            <a:r>
              <a:rPr lang="en-US" dirty="0" smtClean="0"/>
              <a:t>Allow time for sharing—this is really important.</a:t>
            </a:r>
          </a:p>
          <a:p>
            <a:r>
              <a:rPr lang="en-US" dirty="0" smtClean="0"/>
              <a:t>Model and encourage support by others, ask for respect for privacy.</a:t>
            </a:r>
          </a:p>
          <a:p>
            <a:r>
              <a:rPr lang="en-US" dirty="0" smtClean="0"/>
              <a:t>Ask to speak privately after class. </a:t>
            </a:r>
          </a:p>
          <a:p>
            <a:r>
              <a:rPr lang="en-US" dirty="0" smtClean="0"/>
              <a:t>“Would you like to take a break before we move on?”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871575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Asynchronous Disclosures</a:t>
            </a:r>
            <a:endParaRPr lang="en-US" dirty="0"/>
          </a:p>
        </p:txBody>
      </p:sp>
      <p:sp>
        <p:nvSpPr>
          <p:cNvPr id="4" name="Footer Placeholder 3"/>
          <p:cNvSpPr>
            <a:spLocks noGrp="1"/>
          </p:cNvSpPr>
          <p:nvPr>
            <p:ph type="ftr" sz="quarter" idx="11"/>
          </p:nvPr>
        </p:nvSpPr>
        <p:spPr/>
        <p:txBody>
          <a:bodyPr/>
          <a:lstStyle/>
          <a:p>
            <a:r>
              <a:rPr lang="en-US" smtClean="0"/>
              <a:t>© 2015 The SAFE Alliance</a:t>
            </a:r>
            <a:endParaRPr lang="en-US" dirty="0"/>
          </a:p>
        </p:txBody>
      </p:sp>
      <p:sp>
        <p:nvSpPr>
          <p:cNvPr id="5" name="Slide Number Placeholder 4"/>
          <p:cNvSpPr>
            <a:spLocks noGrp="1"/>
          </p:cNvSpPr>
          <p:nvPr>
            <p:ph type="sldNum" sz="quarter" idx="12"/>
          </p:nvPr>
        </p:nvSpPr>
        <p:spPr/>
        <p:txBody>
          <a:bodyPr/>
          <a:lstStyle/>
          <a:p>
            <a:fld id="{6113E31D-E2AB-40D1-8B51-AFA5AFEF393A}" type="slidenum">
              <a:rPr lang="en-US" smtClean="0"/>
              <a:t>12</a:t>
            </a:fld>
            <a:endParaRPr lang="en-US" dirty="0"/>
          </a:p>
        </p:txBody>
      </p:sp>
      <p:sp>
        <p:nvSpPr>
          <p:cNvPr id="6" name="Content Placeholder 7"/>
          <p:cNvSpPr>
            <a:spLocks noGrp="1"/>
          </p:cNvSpPr>
          <p:nvPr>
            <p:ph idx="1"/>
          </p:nvPr>
        </p:nvSpPr>
        <p:spPr/>
        <p:txBody>
          <a:bodyPr>
            <a:normAutofit/>
          </a:bodyPr>
          <a:lstStyle/>
          <a:p>
            <a:r>
              <a:rPr lang="en-US" dirty="0" smtClean="0"/>
              <a:t>Ask to speak privately on the phone.</a:t>
            </a:r>
          </a:p>
          <a:p>
            <a:r>
              <a:rPr lang="en-US" dirty="0" smtClean="0"/>
              <a:t>Validate feelings </a:t>
            </a:r>
            <a:r>
              <a:rPr lang="en-US" dirty="0"/>
              <a:t>and decision to disclose.</a:t>
            </a:r>
          </a:p>
          <a:p>
            <a:r>
              <a:rPr lang="en-US" dirty="0" smtClean="0"/>
              <a:t>Review </a:t>
            </a:r>
            <a:r>
              <a:rPr lang="en-US" dirty="0"/>
              <a:t>your responsibility to report abuse. Ask </a:t>
            </a:r>
            <a:r>
              <a:rPr lang="en-US" dirty="0" smtClean="0"/>
              <a:t>for any </a:t>
            </a:r>
            <a:r>
              <a:rPr lang="en-US" dirty="0"/>
              <a:t>questions</a:t>
            </a:r>
            <a:r>
              <a:rPr lang="en-US" dirty="0" smtClean="0"/>
              <a:t>.</a:t>
            </a:r>
          </a:p>
          <a:p>
            <a:r>
              <a:rPr lang="en-US" dirty="0" smtClean="0"/>
              <a:t>Listen. Don’t investigate.</a:t>
            </a:r>
          </a:p>
          <a:p>
            <a:r>
              <a:rPr lang="en-US" dirty="0" smtClean="0"/>
              <a:t>Ask what you can do to help.</a:t>
            </a:r>
          </a:p>
          <a:p>
            <a:r>
              <a:rPr lang="en-US" dirty="0" smtClean="0"/>
              <a:t>Explain your next steps. Schedule a follow up call to assess safety.</a:t>
            </a:r>
          </a:p>
          <a:p>
            <a:r>
              <a:rPr lang="en-US" dirty="0" smtClean="0"/>
              <a:t>Provide local help resources and 911.</a:t>
            </a:r>
          </a:p>
          <a:p>
            <a:endParaRPr lang="en-US" dirty="0" smtClean="0"/>
          </a:p>
          <a:p>
            <a:endParaRPr lang="en-US" dirty="0" smtClean="0"/>
          </a:p>
        </p:txBody>
      </p:sp>
    </p:spTree>
    <p:extLst>
      <p:ext uri="{BB962C8B-B14F-4D97-AF65-F5344CB8AC3E}">
        <p14:creationId xmlns:p14="http://schemas.microsoft.com/office/powerpoint/2010/main" val="3595418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 Abuse in Texas</a:t>
            </a:r>
            <a:endParaRPr lang="en-US" dirty="0"/>
          </a:p>
        </p:txBody>
      </p:sp>
      <p:sp>
        <p:nvSpPr>
          <p:cNvPr id="3" name="Content Placeholder 2"/>
          <p:cNvSpPr>
            <a:spLocks noGrp="1"/>
          </p:cNvSpPr>
          <p:nvPr>
            <p:ph idx="1"/>
          </p:nvPr>
        </p:nvSpPr>
        <p:spPr/>
        <p:txBody>
          <a:bodyPr>
            <a:normAutofit/>
          </a:bodyPr>
          <a:lstStyle/>
          <a:p>
            <a:r>
              <a:rPr lang="en-US" dirty="0">
                <a:hlinkClick r:id="rId2"/>
              </a:rPr>
              <a:t>https://</a:t>
            </a:r>
            <a:r>
              <a:rPr lang="en-US" dirty="0" smtClean="0">
                <a:hlinkClick r:id="rId2"/>
              </a:rPr>
              <a:t>www.dfps.state.tx.us/Contact_Us/report_abuse.asp</a:t>
            </a:r>
            <a:endParaRPr lang="en-US" dirty="0"/>
          </a:p>
          <a:p>
            <a:r>
              <a:rPr lang="en-US" b="1" dirty="0"/>
              <a:t>By Phone: 1-800-252-5400</a:t>
            </a:r>
            <a:endParaRPr lang="en-US" dirty="0"/>
          </a:p>
          <a:p>
            <a:r>
              <a:rPr lang="en-US" b="1" dirty="0"/>
              <a:t>Online: </a:t>
            </a:r>
            <a:r>
              <a:rPr lang="en-US" b="1" u="sng" dirty="0">
                <a:hlinkClick r:id="rId3"/>
              </a:rPr>
              <a:t>Texas Abuse </a:t>
            </a:r>
            <a:r>
              <a:rPr lang="en-US" b="1" u="sng" dirty="0" smtClean="0">
                <a:hlinkClick r:id="rId3"/>
              </a:rPr>
              <a:t>Hotline</a:t>
            </a:r>
            <a:endParaRPr lang="en-US" b="1" u="sng" dirty="0" smtClean="0"/>
          </a:p>
          <a:p>
            <a:r>
              <a:rPr lang="en-US" dirty="0" smtClean="0"/>
              <a:t>Call </a:t>
            </a:r>
            <a:r>
              <a:rPr lang="en-US" dirty="0"/>
              <a:t>our Abuse Hotline toll-free 24 hours a day, 7 days a week, nationwide, or report with our secure website and get a response within 24 </a:t>
            </a:r>
            <a:r>
              <a:rPr lang="en-US" dirty="0" smtClean="0"/>
              <a:t>hours.</a:t>
            </a:r>
          </a:p>
          <a:p>
            <a:r>
              <a:rPr lang="en-US" dirty="0" smtClean="0"/>
              <a:t>Call </a:t>
            </a:r>
            <a:r>
              <a:rPr lang="en-US" dirty="0"/>
              <a:t>your local law enforcement agency or 911 immediately if you have an emergency or life-threatening situation</a:t>
            </a:r>
            <a:r>
              <a:rPr lang="en-US" dirty="0" smtClean="0"/>
              <a:t>.</a:t>
            </a:r>
          </a:p>
          <a:p>
            <a:r>
              <a:rPr lang="en-US" dirty="0" smtClean="0"/>
              <a:t>In families where battering occurs, the rate of child abuse or neglect is 15 times higher than the national average. Children may be hurt indirectly when their parent is abused. They may be injured trying to protect their parent.</a:t>
            </a:r>
            <a:endParaRPr lang="en-US" dirty="0"/>
          </a:p>
        </p:txBody>
      </p:sp>
      <p:sp>
        <p:nvSpPr>
          <p:cNvPr id="4" name="Footer Placeholder 3"/>
          <p:cNvSpPr>
            <a:spLocks noGrp="1"/>
          </p:cNvSpPr>
          <p:nvPr>
            <p:ph type="ftr" sz="quarter" idx="11"/>
          </p:nvPr>
        </p:nvSpPr>
        <p:spPr/>
        <p:txBody>
          <a:bodyPr/>
          <a:lstStyle/>
          <a:p>
            <a:r>
              <a:rPr lang="en-US" smtClean="0"/>
              <a:t>© 2015 The SAFE Alliance</a:t>
            </a:r>
            <a:endParaRPr lang="en-US" dirty="0"/>
          </a:p>
        </p:txBody>
      </p:sp>
      <p:sp>
        <p:nvSpPr>
          <p:cNvPr id="5" name="Slide Number Placeholder 4"/>
          <p:cNvSpPr>
            <a:spLocks noGrp="1"/>
          </p:cNvSpPr>
          <p:nvPr>
            <p:ph type="sldNum" sz="quarter" idx="12"/>
          </p:nvPr>
        </p:nvSpPr>
        <p:spPr/>
        <p:txBody>
          <a:bodyPr/>
          <a:lstStyle/>
          <a:p>
            <a:fld id="{6113E31D-E2AB-40D1-8B51-AFA5AFEF393A}" type="slidenum">
              <a:rPr lang="en-US" smtClean="0"/>
              <a:t>13</a:t>
            </a:fld>
            <a:endParaRPr lang="en-US" dirty="0"/>
          </a:p>
        </p:txBody>
      </p:sp>
    </p:spTree>
    <p:extLst>
      <p:ext uri="{BB962C8B-B14F-4D97-AF65-F5344CB8AC3E}">
        <p14:creationId xmlns:p14="http://schemas.microsoft.com/office/powerpoint/2010/main" val="2762960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43584" y="286603"/>
            <a:ext cx="9912096" cy="1450757"/>
          </a:xfrm>
        </p:spPr>
        <p:txBody>
          <a:bodyPr>
            <a:normAutofit/>
          </a:bodyPr>
          <a:lstStyle/>
          <a:p>
            <a:r>
              <a:rPr lang="en-US" dirty="0" smtClean="0"/>
              <a:t>Resources	</a:t>
            </a:r>
            <a:endParaRPr lang="en-US" dirty="0"/>
          </a:p>
        </p:txBody>
      </p:sp>
      <p:sp>
        <p:nvSpPr>
          <p:cNvPr id="5" name="Footer Placeholder 4"/>
          <p:cNvSpPr>
            <a:spLocks noGrp="1"/>
          </p:cNvSpPr>
          <p:nvPr>
            <p:ph type="ftr" sz="quarter" idx="11"/>
          </p:nvPr>
        </p:nvSpPr>
        <p:spPr/>
        <p:txBody>
          <a:bodyPr/>
          <a:lstStyle/>
          <a:p>
            <a:r>
              <a:rPr lang="en-US" smtClean="0"/>
              <a:t>© 2015 The SAFE Alliance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14</a:t>
            </a:fld>
            <a:endParaRPr lang="en-US"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634" y="2268427"/>
            <a:ext cx="2784566" cy="1670740"/>
          </a:xfrm>
          <a:prstGeom prst="rect">
            <a:avLst/>
          </a:prstGeom>
        </p:spPr>
      </p:pic>
      <p:sp>
        <p:nvSpPr>
          <p:cNvPr id="2" name="Rectangle 1"/>
          <p:cNvSpPr/>
          <p:nvPr/>
        </p:nvSpPr>
        <p:spPr>
          <a:xfrm>
            <a:off x="981922" y="4024180"/>
            <a:ext cx="2855519" cy="646331"/>
          </a:xfrm>
          <a:prstGeom prst="rect">
            <a:avLst/>
          </a:prstGeom>
        </p:spPr>
        <p:txBody>
          <a:bodyPr wrap="square">
            <a:spAutoFit/>
          </a:bodyPr>
          <a:lstStyle/>
          <a:p>
            <a:r>
              <a:rPr lang="en-US" dirty="0">
                <a:hlinkClick r:id="rId4"/>
              </a:rPr>
              <a:t>https://www.youtube.com/watch?v=h3nhM9UlJjc</a:t>
            </a:r>
            <a:endParaRPr lang="en-US" dirty="0"/>
          </a:p>
        </p:txBody>
      </p:sp>
      <p:pic>
        <p:nvPicPr>
          <p:cNvPr id="13" name="Picture 4" descr="DatingAbuse-Tools_web.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9737" y="1878786"/>
            <a:ext cx="3695700" cy="165735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8055864" y="2307946"/>
            <a:ext cx="3310128" cy="956462"/>
          </a:xfrm>
          <a:prstGeom prst="rect">
            <a:avLst/>
          </a:prstGeom>
        </p:spPr>
        <p:txBody>
          <a:bodyPr wrap="square">
            <a:spAutoFit/>
          </a:bodyPr>
          <a:lstStyle/>
          <a:p>
            <a:r>
              <a:rPr lang="en-US" sz="2800" dirty="0">
                <a:hlinkClick r:id="rId6"/>
              </a:rPr>
              <a:t>https://www.jwi.org/tools</a:t>
            </a:r>
            <a:r>
              <a:rPr lang="en-US" sz="2800" dirty="0" smtClean="0">
                <a:hlinkClick r:id="rId6"/>
              </a:rPr>
              <a:t>/</a:t>
            </a:r>
            <a:r>
              <a:rPr lang="en-US" sz="2800" dirty="0" smtClean="0"/>
              <a:t>	</a:t>
            </a:r>
            <a:endParaRPr lang="en-US" sz="2800" dirty="0"/>
          </a:p>
        </p:txBody>
      </p:sp>
      <p:sp>
        <p:nvSpPr>
          <p:cNvPr id="3" name="TextBox 2"/>
          <p:cNvSpPr txBox="1"/>
          <p:nvPr/>
        </p:nvSpPr>
        <p:spPr>
          <a:xfrm>
            <a:off x="1137110" y="1773845"/>
            <a:ext cx="2944368" cy="523220"/>
          </a:xfrm>
          <a:prstGeom prst="rect">
            <a:avLst/>
          </a:prstGeom>
          <a:noFill/>
        </p:spPr>
        <p:txBody>
          <a:bodyPr wrap="square" rtlCol="0">
            <a:spAutoFit/>
          </a:bodyPr>
          <a:lstStyle/>
          <a:p>
            <a:r>
              <a:rPr lang="en-US" sz="2800" dirty="0" smtClean="0"/>
              <a:t>Consent for Kids</a:t>
            </a:r>
            <a:endParaRPr lang="en-US" sz="2800" dirty="0"/>
          </a:p>
        </p:txBody>
      </p:sp>
      <p:pic>
        <p:nvPicPr>
          <p:cNvPr id="15" name="Picture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53016" y="3894319"/>
            <a:ext cx="7838984" cy="2419440"/>
          </a:xfrm>
          <a:prstGeom prst="rect">
            <a:avLst/>
          </a:prstGeom>
        </p:spPr>
      </p:pic>
      <p:sp>
        <p:nvSpPr>
          <p:cNvPr id="4" name="TextBox 3"/>
          <p:cNvSpPr txBox="1"/>
          <p:nvPr/>
        </p:nvSpPr>
        <p:spPr>
          <a:xfrm>
            <a:off x="978409" y="4907051"/>
            <a:ext cx="3502152" cy="1477328"/>
          </a:xfrm>
          <a:prstGeom prst="rect">
            <a:avLst/>
          </a:prstGeom>
          <a:noFill/>
        </p:spPr>
        <p:txBody>
          <a:bodyPr wrap="square" rtlCol="0">
            <a:spAutoFit/>
          </a:bodyPr>
          <a:lstStyle/>
          <a:p>
            <a:r>
              <a:rPr lang="en-US" dirty="0" smtClean="0"/>
              <a:t>Expect Respect Program Manual</a:t>
            </a:r>
          </a:p>
          <a:p>
            <a:r>
              <a:rPr lang="en-US" dirty="0" smtClean="0"/>
              <a:t>Promoting Safe and Healthy Relationships for Youth </a:t>
            </a:r>
            <a:r>
              <a:rPr lang="en-US" dirty="0" smtClean="0">
                <a:hlinkClick r:id="rId8"/>
              </a:rPr>
              <a:t>www.safeaustin.org/expectrespect</a:t>
            </a:r>
            <a:r>
              <a:rPr lang="en-US" dirty="0" smtClean="0"/>
              <a:t>	</a:t>
            </a:r>
            <a:endParaRPr lang="en-US" dirty="0"/>
          </a:p>
        </p:txBody>
      </p:sp>
    </p:spTree>
    <p:extLst>
      <p:ext uri="{BB962C8B-B14F-4D97-AF65-F5344CB8AC3E}">
        <p14:creationId xmlns:p14="http://schemas.microsoft.com/office/powerpoint/2010/main" val="12667884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37904" y="515155"/>
            <a:ext cx="669701" cy="369332"/>
          </a:xfrm>
          <a:prstGeom prst="rect">
            <a:avLst/>
          </a:prstGeom>
          <a:solidFill>
            <a:schemeClr val="bg1"/>
          </a:solidFill>
        </p:spPr>
        <p:txBody>
          <a:bodyPr wrap="square" rtlCol="0">
            <a:spAutoFit/>
          </a:bodyPr>
          <a:lstStyle/>
          <a:p>
            <a:endParaRPr lang="en-US" dirty="0"/>
          </a:p>
        </p:txBody>
      </p:sp>
      <p:sp>
        <p:nvSpPr>
          <p:cNvPr id="3" name="TextBox 2"/>
          <p:cNvSpPr txBox="1"/>
          <p:nvPr/>
        </p:nvSpPr>
        <p:spPr>
          <a:xfrm>
            <a:off x="3837904" y="5696661"/>
            <a:ext cx="575070" cy="465599"/>
          </a:xfrm>
          <a:prstGeom prst="rect">
            <a:avLst/>
          </a:prstGeom>
          <a:solidFill>
            <a:schemeClr val="bg1"/>
          </a:solidFill>
        </p:spPr>
        <p:txBody>
          <a:bodyPr wrap="square" rtlCol="0">
            <a:spAutoFit/>
          </a:bodyPr>
          <a:lstStyle/>
          <a:p>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7319" y="1098530"/>
            <a:ext cx="3440577" cy="5317256"/>
          </a:xfrm>
          <a:prstGeom prst="rect">
            <a:avLst/>
          </a:prstGeom>
        </p:spPr>
      </p:pic>
      <p:pic>
        <p:nvPicPr>
          <p:cNvPr id="11" name="Content Placeholder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1997" y="1871243"/>
            <a:ext cx="5303521" cy="3977640"/>
          </a:xfrm>
          <a:prstGeom prst="rect">
            <a:avLst/>
          </a:prstGeom>
        </p:spPr>
      </p:pic>
      <p:sp>
        <p:nvSpPr>
          <p:cNvPr id="12" name="Title 11"/>
          <p:cNvSpPr>
            <a:spLocks noGrp="1"/>
          </p:cNvSpPr>
          <p:nvPr>
            <p:ph type="title"/>
          </p:nvPr>
        </p:nvSpPr>
        <p:spPr>
          <a:xfrm>
            <a:off x="151325" y="120417"/>
            <a:ext cx="10058400" cy="1450757"/>
          </a:xfrm>
        </p:spPr>
        <p:txBody>
          <a:bodyPr/>
          <a:lstStyle/>
          <a:p>
            <a:r>
              <a:rPr lang="en-US" dirty="0" smtClean="0"/>
              <a:t>	In Austin Area</a:t>
            </a:r>
            <a:endParaRPr lang="en-US" dirty="0"/>
          </a:p>
        </p:txBody>
      </p:sp>
    </p:spTree>
    <p:extLst>
      <p:ext uri="{BB962C8B-B14F-4D97-AF65-F5344CB8AC3E}">
        <p14:creationId xmlns:p14="http://schemas.microsoft.com/office/powerpoint/2010/main" val="24853773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7" name="Content Placeholder 6"/>
          <p:cNvSpPr>
            <a:spLocks noGrp="1"/>
          </p:cNvSpPr>
          <p:nvPr>
            <p:ph sz="half" idx="1"/>
          </p:nvPr>
        </p:nvSpPr>
        <p:spPr>
          <a:xfrm>
            <a:off x="1097280" y="2037758"/>
            <a:ext cx="4937760" cy="4023360"/>
          </a:xfrm>
        </p:spPr>
        <p:txBody>
          <a:bodyPr/>
          <a:lstStyle/>
          <a:p>
            <a:pPr marL="0" indent="0">
              <a:buNone/>
            </a:pPr>
            <a:r>
              <a:rPr lang="en-US" dirty="0"/>
              <a:t>Barri </a:t>
            </a:r>
            <a:r>
              <a:rPr lang="en-US" dirty="0" smtClean="0"/>
              <a:t>Rosenbluth</a:t>
            </a:r>
          </a:p>
          <a:p>
            <a:pPr marL="0" indent="0">
              <a:buNone/>
            </a:pPr>
            <a:r>
              <a:rPr lang="en-US" dirty="0" smtClean="0"/>
              <a:t>Senior </a:t>
            </a:r>
            <a:r>
              <a:rPr lang="en-US" dirty="0"/>
              <a:t>Director, Expect Respect </a:t>
            </a:r>
            <a:endParaRPr lang="en-US" dirty="0" smtClean="0"/>
          </a:p>
          <a:p>
            <a:pPr marL="0" indent="0">
              <a:buNone/>
            </a:pPr>
            <a:r>
              <a:rPr lang="en-US" dirty="0" smtClean="0"/>
              <a:t>(</a:t>
            </a:r>
            <a:r>
              <a:rPr lang="en-US" dirty="0"/>
              <a:t>512) 356-1628</a:t>
            </a:r>
          </a:p>
          <a:p>
            <a:pPr marL="0" indent="0">
              <a:buNone/>
            </a:pPr>
            <a:r>
              <a:rPr lang="en-US" dirty="0">
                <a:hlinkClick r:id="rId3"/>
              </a:rPr>
              <a:t>brosenbluth@safeaustin.org</a:t>
            </a:r>
            <a:endParaRPr lang="en-US" dirty="0"/>
          </a:p>
          <a:p>
            <a:pPr marL="0" indent="0">
              <a:buNone/>
            </a:pPr>
            <a:r>
              <a:rPr lang="en-US" dirty="0" smtClean="0">
                <a:hlinkClick r:id="rId4"/>
              </a:rPr>
              <a:t>www.safeaustin.org/expectrespect</a:t>
            </a:r>
            <a:r>
              <a:rPr lang="en-US" dirty="0" smtClean="0"/>
              <a:t>	</a:t>
            </a:r>
            <a:endParaRPr lang="en-US" dirty="0"/>
          </a:p>
          <a:p>
            <a:pPr marL="0" indent="0">
              <a:buNone/>
            </a:pPr>
            <a:endParaRPr lang="en-US" dirty="0"/>
          </a:p>
        </p:txBody>
      </p:sp>
    </p:spTree>
    <p:extLst>
      <p:ext uri="{BB962C8B-B14F-4D97-AF65-F5344CB8AC3E}">
        <p14:creationId xmlns:p14="http://schemas.microsoft.com/office/powerpoint/2010/main" val="1134865769"/>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Custom 8">
      <a:dk1>
        <a:srgbClr val="000000"/>
      </a:dk1>
      <a:lt1>
        <a:sysClr val="window" lastClr="FFFFFF"/>
      </a:lt1>
      <a:dk2>
        <a:srgbClr val="637052"/>
      </a:dk2>
      <a:lt2>
        <a:srgbClr val="CCDDEA"/>
      </a:lt2>
      <a:accent1>
        <a:srgbClr val="000000"/>
      </a:accent1>
      <a:accent2>
        <a:srgbClr val="C00000"/>
      </a:accent2>
      <a:accent3>
        <a:srgbClr val="000000"/>
      </a:accent3>
      <a:accent4>
        <a:srgbClr val="9B8357"/>
      </a:accent4>
      <a:accent5>
        <a:srgbClr val="C2BC80"/>
      </a:accent5>
      <a:accent6>
        <a:srgbClr val="94A088"/>
      </a:accent6>
      <a:hlink>
        <a:srgbClr val="2998E3"/>
      </a:hlink>
      <a:folHlink>
        <a:srgbClr val="8C8C8C"/>
      </a:folHlink>
    </a:clrScheme>
    <a:fontScheme name="Verdana Head, Calibri Body">
      <a:majorFont>
        <a:latin typeface="Verdana"/>
        <a:ea typeface=""/>
        <a:cs typeface=""/>
      </a:majorFont>
      <a:minorFont>
        <a:latin typeface="Calibr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8767</TotalTime>
  <Words>1007</Words>
  <Application>Microsoft Office PowerPoint</Application>
  <PresentationFormat>Widescreen</PresentationFormat>
  <Paragraphs>136</Paragraphs>
  <Slides>16</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ＭＳ Ｐゴシック</vt:lpstr>
      <vt:lpstr>Arial</vt:lpstr>
      <vt:lpstr>Calibri</vt:lpstr>
      <vt:lpstr>Sylfaen</vt:lpstr>
      <vt:lpstr>Verdana</vt:lpstr>
      <vt:lpstr>Retrospect</vt:lpstr>
      <vt:lpstr>Personal Safety Issues   for Online Sex Ed</vt:lpstr>
      <vt:lpstr>Goals</vt:lpstr>
      <vt:lpstr>“Shelter” in Place  </vt:lpstr>
      <vt:lpstr>Children’s Exposure to Violence</vt:lpstr>
      <vt:lpstr> Domestic Violence:  How Children are Involved </vt:lpstr>
      <vt:lpstr>Corporal Punishment</vt:lpstr>
      <vt:lpstr>  Dating Abuse</vt:lpstr>
      <vt:lpstr>Creating a Safe Online Space </vt:lpstr>
      <vt:lpstr>Continued</vt:lpstr>
      <vt:lpstr>Break-out Question</vt:lpstr>
      <vt:lpstr>Synchronous Disclosures</vt:lpstr>
      <vt:lpstr>Asynchronous Disclosures</vt:lpstr>
      <vt:lpstr>Report Abuse in Texas</vt:lpstr>
      <vt:lpstr>Resources </vt:lpstr>
      <vt:lpstr> In Austin Area</vt:lpstr>
      <vt:lpstr>Thank You!</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Skinner, Lynne</dc:creator>
  <cp:lastModifiedBy>Nyk Rayne</cp:lastModifiedBy>
  <cp:revision>504</cp:revision>
  <cp:lastPrinted>2018-09-04T16:54:04Z</cp:lastPrinted>
  <dcterms:created xsi:type="dcterms:W3CDTF">2015-07-20T15:01:47Z</dcterms:created>
  <dcterms:modified xsi:type="dcterms:W3CDTF">2020-04-07T14:52:15Z</dcterms:modified>
</cp:coreProperties>
</file>